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11"/>
  </p:notesMasterIdLst>
  <p:sldIdLst>
    <p:sldId id="256" r:id="rId4"/>
    <p:sldId id="427" r:id="rId5"/>
    <p:sldId id="422" r:id="rId6"/>
    <p:sldId id="424" r:id="rId7"/>
    <p:sldId id="425" r:id="rId8"/>
    <p:sldId id="426" r:id="rId9"/>
    <p:sldId id="428" r:id="rId16"/>
    <p:sldId id="429" r:id="rId17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460" y="284781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82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67858-2669-597E-C783-B470BD6D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82273E-6DE7-14C0-75BF-DC711DBDC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C73CA-6EB6-82F0-72B5-43E11CC8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9447-A5E6-4AF1-B91C-E41E669677F1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28757-E571-9327-D531-9F5EAF4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23CA6-8305-A5EE-E436-19C3496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AE1A8-FC57-4C57-A899-A7388D8BB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0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7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openJiuwen</a:t>
            </a:r>
            <a:r>
              <a:rPr lang="en-US" altLang="zh-CN" dirty="0"/>
              <a:t> </a:t>
            </a:r>
            <a:r>
              <a:rPr lang="zh-CN" altLang="en-US" dirty="0"/>
              <a:t>创意大赛提交模板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ext cx="10080000" cy="0"/>
          </a:xfrm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PromptForge（提示词锻造台）｜ Coding 赛道 ｜ deforoout队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1145A6A4-8EAF-45AC-8D5B-79E3BFFBB9E0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创意名称  PromptForge（提示词锻造台）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6111ED-963D-46F4-85AB-E9DCC68E3ED9}"/>
              </a:ext>
            </a:extLst>
          </p:cNvPr>
          <p:cNvSpPr/>
          <p:nvPr/>
        </p:nvSpPr>
        <p:spPr>
          <a:xfrm>
            <a:off x="518689" y="1053884"/>
            <a:ext cx="4138552" cy="369332"/>
          </a:xfrm>
          <a:prstGeom prst="rect">
            <a:avLst/>
          </a:prstGeom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2B2B2B"/>
                </a:solidFill>
                <a:latin typeface="Microsoft YaHei"/>
                <a:ea typeface="Microsoft YaHei"/>
              </a:rPr>
              <a:t>创意描述</a:t>
            </a: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（必填，&lt;500 字）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6ECBD-A721-4AD2-B2AF-9ADDA264E9FA}"/>
              </a:ext>
            </a:extLst>
          </p:cNvPr>
          <p:cNvSpPr/>
          <p:nvPr/>
        </p:nvSpPr>
        <p:spPr>
          <a:xfrm>
            <a:off x="797658" y="5077577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所属主题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426FC6-34D5-4887-8F37-EB2224DB683A}"/>
              </a:ext>
            </a:extLst>
          </p:cNvPr>
          <p:cNvSpPr/>
          <p:nvPr/>
        </p:nvSpPr>
        <p:spPr>
          <a:xfrm>
            <a:off x="7118384" y="1053884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应用场景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6943AB-BE73-4EA4-86B4-BE89093FCE99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</p:cNvCxnSpPr>
          <p:nvPr/>
        </p:nvCxnSpPr>
        <p:spPr>
          <a:xfrm>
            <a:off x="88900" y="4998070"/>
            <a:ext cx="57953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811864" y="889348"/>
            <a:ext cx="0" cy="54362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EFC3242-0537-4CD3-8635-4D2A7F2E739D}"/>
              </a:ext>
            </a:extLst>
          </p:cNvPr>
          <p:cNvSpPr/>
          <p:nvPr/>
        </p:nvSpPr>
        <p:spPr>
          <a:xfrm>
            <a:off x="922152" y="5574886"/>
            <a:ext cx="4455759" cy="458459"/>
          </a:xfrm>
          <a:prstGeom prst="rect">
            <a:avLst/>
          </a:prstGeom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Coding 赛道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520" y="6355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AI生成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00" y="1458000"/>
            <a:ext cx="5238000" cy="32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痛点：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AI 开发每天面对大量“一句话需求”，但提示词质量参差、单模型自评不可靠、方案返工成本高。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做法：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PromptForge 是 AI 开发者的“提示词编译器 + 评审会”：把关键词编译成含验收标准的任务规格，生成 2~4 个“假设不同”的候选提示词（v0.1 用同一 deepseek-flash 跑 raw/compiled 两种策略），调用模型真实执行并自动跑测试，采集测试通过率、失败用例、耗时与 token 费用，按硬约束 + 成本给出可解释的推荐与账单。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Demo v0.1：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2026-10-27 实测：同一 deepseek-flash，raw 一句话需求只过 3/6（漏默认 limit 与响应字段）；编译成 SRD+6 条验收后 6/6，耗时 5.7s、费用约 ¥0.0055。提示词编译的收益被真实测试证明。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8000" y="1458000"/>
            <a:ext cx="5112000" cy="442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用户：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独立开发者、高校学生、2~20 人研发团队；接到一句话需求、需要给现有项目加功能/修 Bug/做方案选型的人。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场景：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先用 PromptForge 把“给待办列表加标签筛选和分页”变成 6 条可执行验收标准；同一模型按 raw/compiled 两种提示策略各写一版 app/main.py；系统真实跑 pytest，按证据选方案，并给出成本账单。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价值：</a:t>
            </a: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对个人，降低与 AI 协作的提示词门槛；对团队，把方案评审从“拍脑袋”变成“看数据”，减少返工轮数与 token 浪费；对 AI 开发流程，让“选方案”第一次可复现、可审计。</a:t>
            </a:r>
          </a:p>
        </p:txBody>
      </p:sp>
    </p:spTree>
    <p:extLst>
      <p:ext uri="{BB962C8B-B14F-4D97-AF65-F5344CB8AC3E}">
        <p14:creationId xmlns:p14="http://schemas.microsoft.com/office/powerpoint/2010/main" val="25642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创意方案构想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1901315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方案优势（可选）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2414076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方案详情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（必填）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1984763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技术依赖（可选）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422000"/>
            <a:ext cx="523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需求编译：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一句话 → SRD（目标/约束/6 条可执行验收标准）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多候选生成：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同一模型 × 不同提示策略（raw 一句话 vs 编译后 SRD）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真实执行：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模型生成代码 → 沙箱真跑 pytest，采集证据包（v0.2 加 lint）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异构评审：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v0.1 规则/测试优先；v0.2 加异构评委与一致性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决策交付：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硬约束过滤 → 成本/耗时排序 → 决策卡（推荐/证据/费用）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可复现：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证据包记录来源、证据与费用，可回放；Prompt DAG 为 v0.2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104000"/>
            <a:ext cx="5238000" cy="19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证据而非感觉：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测试通过率、失败用例、耗时、费用都是真实执行结果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多假设而非同义改写：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候选对应不同架构/验证策略，差异有信息量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可解释：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每个推荐都指得到具体测试输出与费用；不拍脑袋排序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成本可控：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Token Ledger + 剪枝/早停，预算内给当前最优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422000"/>
            <a:ext cx="550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openJiuwen WorkSwarm / AgentOS：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任务规划、Skills、Channel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Agent Framework / Agent System Service：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多 Agent 协同、安全沙箱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DeepSeek API：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deepseek-flash（OpenAI 兼容）；备选：华为云 MaaS/Pangu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执行栈：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Python 3.11 + pytest + Git；v0.2 复用 Streamlit 看板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合规：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仅官方 API / 本地部署；演示数据脱敏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72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打磨验证 / 预期 Demo 形式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104000"/>
            <a:ext cx="5508000" cy="19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预期 Demo：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CLI 最小闭环 + 一页对比看板（测试红绿/证据/费用）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11-10 前：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60 秒真实运行录屏，用于创意 PPT“项目运行”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12 月：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3 分钟视频 + 现场演示；固定任务集 A/B 对照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资源：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3 个模型 API、1 台开发机、Docker 沙箱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0070C0"/>
                </a:solidFill>
                <a:latin typeface="Microsoft YaHei"/>
                <a:ea typeface="Microsoft YaHei"/>
              </a:rPr>
              <a:t>兜底：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缓存回放 / 本地模型 / 录屏，保证现场不翻车</a:t>
            </a:r>
          </a:p>
        </p:txBody>
      </p:sp>
    </p:spTree>
    <p:extLst>
      <p:ext uri="{BB962C8B-B14F-4D97-AF65-F5344CB8AC3E}">
        <p14:creationId xmlns:p14="http://schemas.microsoft.com/office/powerpoint/2010/main" val="225991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1348236-2F22-4551-9242-B378DB13C9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 lIns="0" rIns="0" tIns="0" bIns="0">
            <a:noAutofit/>
          </a:bodyPr>
          <a:lstStyle/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DEMO 与关键用户路径（2026-10-27 实测）</a:t>
            </a:r>
          </a:p>
        </p:txBody>
      </p:sp>
      <p:pic>
        <p:nvPicPr>
          <p:cNvPr id="3" name="Picture 2" descr="demo_overview_v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46000"/>
            <a:ext cx="6696000" cy="4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5256000"/>
            <a:ext cx="6696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实测结果：A raw 3/6、B compiled 6/6；数字取自 runs/demo-004 evidence（2026-10-27）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598000"/>
            <a:ext cx="11304000" cy="10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Demo v0.1 交付物：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CLI 命令 · evidence.json · decision.md · 60 秒真实录屏 · 离线回放包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本轮实测：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A raw 3/6 / ¥0.0096 / 12.4s ｜ B compiled 6/6 / ¥0.0055 / 5.7s（DeepSeek 空闲时段价）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数据规则：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图中红绿/分数/费用全部来自真实执行日志（runs/demo-004）；不伪造、不手填。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代码仓库：</a:t>
            </a: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https://github.com/dissill/LLM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6000" y="864000"/>
            <a:ext cx="4608000" cy="51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</a:rPr>
              <a:t>关键用户路径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① 触发：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CLI 或网页输入一句话需求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② 输入：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关键词 + 可选仓库/约束/目标模型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③ 回显：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SRD + 6 条验收标准，用户确认或修改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④ 执行：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2 候选（同一 deepseek-flash）并行生成 + 沙箱真跑 pytest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⑤ 结果：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证据看板：红绿、失败用例、耗时、token 费用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⑥ 决策：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推荐 + 证据链 + 次优备选 + 成本账单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⑦ 回放：</a:t>
            </a:r>
            <a:r>
              <a:rPr sz="1100" b="0">
                <a:solidFill>
                  <a:srgbClr val="2B2B2B"/>
                </a:solidFill>
                <a:latin typeface="Microsoft YaHei"/>
                <a:ea typeface="Microsoft YaHei"/>
              </a:rPr>
              <a:t>证据包可复现、可审计；Prompt DAG 下一步接入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6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Demo 形态：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v0.1 命令行；v0.2 加 Streamlit 对比看板</a:t>
            </a:r>
          </a:p>
        </p:txBody>
      </p:sp>
    </p:spTree>
    <p:extLst>
      <p:ext uri="{BB962C8B-B14F-4D97-AF65-F5344CB8AC3E}">
        <p14:creationId xmlns:p14="http://schemas.microsoft.com/office/powerpoint/2010/main" val="146279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394ABE4E-FA56-938F-7201-06F20173CC05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附：赛题方向详细参考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36D495-78C3-E144-8420-FA3F31DF57CC}"/>
              </a:ext>
            </a:extLst>
          </p:cNvPr>
          <p:cNvSpPr txBox="1"/>
          <p:nvPr/>
        </p:nvSpPr>
        <p:spPr>
          <a:xfrm>
            <a:off x="194489" y="3552176"/>
            <a:ext cx="11731564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  <a:r>
              <a:rPr lang="zh-CN" altLang="en-US" sz="1200" b="1" dirty="0">
                <a:solidFill>
                  <a:schemeClr val="bg1"/>
                </a:solidFill>
              </a:rPr>
              <a:t>示意方向仅做场景参考，不限定大家的想象力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AFAF3FC-E9A1-FD4A-4B70-B2836CFB081F}"/>
              </a:ext>
            </a:extLst>
          </p:cNvPr>
          <p:cNvSpPr/>
          <p:nvPr/>
        </p:nvSpPr>
        <p:spPr>
          <a:xfrm>
            <a:off x="214312" y="1041654"/>
            <a:ext cx="1124712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28B795F-04AB-1D21-D2D1-B920742C2F8D}"/>
              </a:ext>
            </a:extLst>
          </p:cNvPr>
          <p:cNvSpPr/>
          <p:nvPr/>
        </p:nvSpPr>
        <p:spPr>
          <a:xfrm>
            <a:off x="21431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EC19D71-917D-25B6-2CA3-DA4AF745AECF}"/>
              </a:ext>
            </a:extLst>
          </p:cNvPr>
          <p:cNvSpPr/>
          <p:nvPr/>
        </p:nvSpPr>
        <p:spPr>
          <a:xfrm>
            <a:off x="37890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ACB0CE2-0339-A7BC-C8B8-A5086F21C944}"/>
              </a:ext>
            </a:extLst>
          </p:cNvPr>
          <p:cNvSpPr/>
          <p:nvPr/>
        </p:nvSpPr>
        <p:spPr>
          <a:xfrm>
            <a:off x="37890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办公赛道</a:t>
            </a:r>
            <a:endParaRPr lang="en-US" sz="22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DCD2892-1C0F-108C-7A9A-E1C1A19A8A4E}"/>
              </a:ext>
            </a:extLst>
          </p:cNvPr>
          <p:cNvSpPr/>
          <p:nvPr/>
        </p:nvSpPr>
        <p:spPr>
          <a:xfrm>
            <a:off x="37890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5157B4-F232-AA03-ADDC-8BA304B95A4F}"/>
              </a:ext>
            </a:extLst>
          </p:cNvPr>
          <p:cNvSpPr/>
          <p:nvPr/>
        </p:nvSpPr>
        <p:spPr>
          <a:xfrm>
            <a:off x="37890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E9CA185-9276-726D-E1E4-66DCE176F0E1}"/>
              </a:ext>
            </a:extLst>
          </p:cNvPr>
          <p:cNvSpPr/>
          <p:nvPr/>
        </p:nvSpPr>
        <p:spPr>
          <a:xfrm>
            <a:off x="37890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让智能体成为你的办公助手。围绕会议纪要、文档处理、流程自动化、数据报表、知识管理等场景，打造高效、精准、可靠的生产力工具</a:t>
            </a:r>
            <a:endParaRPr lang="en-US" sz="10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0E6ABFC-45E4-2EAC-317C-F19A42AFA16A}"/>
              </a:ext>
            </a:extLst>
          </p:cNvPr>
          <p:cNvSpPr/>
          <p:nvPr/>
        </p:nvSpPr>
        <p:spPr>
          <a:xfrm>
            <a:off x="32250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959B297-AAFD-75C3-D1EA-97AC9190A41A}"/>
              </a:ext>
            </a:extLst>
          </p:cNvPr>
          <p:cNvSpPr/>
          <p:nvPr/>
        </p:nvSpPr>
        <p:spPr>
          <a:xfrm>
            <a:off x="32250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E1082CB-04AA-7479-5937-7C62C22A5EDC}"/>
              </a:ext>
            </a:extLst>
          </p:cNvPr>
          <p:cNvSpPr/>
          <p:nvPr/>
        </p:nvSpPr>
        <p:spPr>
          <a:xfrm>
            <a:off x="45052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  ·  自动记录、提炼、分发会议要点</a:t>
            </a:r>
            <a:endParaRPr lang="en-US" sz="10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B4BBFB8-1E5E-B193-BD95-46B411E3C73E}"/>
              </a:ext>
            </a:extLst>
          </p:cNvPr>
          <p:cNvSpPr/>
          <p:nvPr/>
        </p:nvSpPr>
        <p:spPr>
          <a:xfrm>
            <a:off x="32250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F17EE76-E71F-2D9D-E32B-968574E9DB2F}"/>
              </a:ext>
            </a:extLst>
          </p:cNvPr>
          <p:cNvSpPr/>
          <p:nvPr/>
        </p:nvSpPr>
        <p:spPr>
          <a:xfrm>
            <a:off x="45052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文档处理  ·  智能起草、审阅、格式化文档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BB46B57-6AFB-47BD-DC62-82A5500F6A9D}"/>
              </a:ext>
            </a:extLst>
          </p:cNvPr>
          <p:cNvSpPr/>
          <p:nvPr/>
        </p:nvSpPr>
        <p:spPr>
          <a:xfrm>
            <a:off x="322506" y="51108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57C14CB-7094-D8A1-D8F7-7B9482F38CE8}"/>
              </a:ext>
            </a:extLst>
          </p:cNvPr>
          <p:cNvSpPr/>
          <p:nvPr/>
        </p:nvSpPr>
        <p:spPr>
          <a:xfrm>
            <a:off x="450522" y="50468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流程自动化  ·  审批、归档、通知自动执行</a:t>
            </a:r>
            <a:endParaRPr lang="en-US" sz="10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46A6A79-B67B-01D6-2082-CD1F6C560967}"/>
              </a:ext>
            </a:extLst>
          </p:cNvPr>
          <p:cNvSpPr/>
          <p:nvPr/>
        </p:nvSpPr>
        <p:spPr>
          <a:xfrm>
            <a:off x="322506" y="571729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FD42EED-69BA-B77A-4628-158C79B8F73E}"/>
              </a:ext>
            </a:extLst>
          </p:cNvPr>
          <p:cNvSpPr/>
          <p:nvPr/>
        </p:nvSpPr>
        <p:spPr>
          <a:xfrm>
            <a:off x="450522" y="565328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  ·  采集、分析、生成可视化报表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DC69E5D-E71C-367A-D0A8-3220CDF5444F}"/>
              </a:ext>
            </a:extLst>
          </p:cNvPr>
          <p:cNvSpPr/>
          <p:nvPr/>
        </p:nvSpPr>
        <p:spPr>
          <a:xfrm>
            <a:off x="322506" y="604647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42F65987-270B-20DC-0A6C-2CDD7D72E89C}"/>
              </a:ext>
            </a:extLst>
          </p:cNvPr>
          <p:cNvSpPr/>
          <p:nvPr/>
        </p:nvSpPr>
        <p:spPr>
          <a:xfrm>
            <a:off x="450522" y="598247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知识管理  ·  企业知识库构建与智能检索</a:t>
            </a:r>
            <a:endParaRPr lang="en-US" sz="10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8276BAD-5054-538A-0B7E-D7BA96C4DEEC}"/>
              </a:ext>
            </a:extLst>
          </p:cNvPr>
          <p:cNvSpPr/>
          <p:nvPr/>
        </p:nvSpPr>
        <p:spPr>
          <a:xfrm>
            <a:off x="322506" y="5428426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4BDB1C5-0149-4849-2910-713FE7EB3DE1}"/>
              </a:ext>
            </a:extLst>
          </p:cNvPr>
          <p:cNvSpPr/>
          <p:nvPr/>
        </p:nvSpPr>
        <p:spPr>
          <a:xfrm>
            <a:off x="450522" y="5364418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协同办公  ·  多人协作、任务分配、进度跟踪</a:t>
            </a:r>
            <a:endParaRPr lang="en-US" sz="10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31E3453-D82A-281D-A19E-0076BBFABCC3}"/>
              </a:ext>
            </a:extLst>
          </p:cNvPr>
          <p:cNvSpPr/>
          <p:nvPr/>
        </p:nvSpPr>
        <p:spPr>
          <a:xfrm>
            <a:off x="274415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E16F531E-09B5-5ED5-9ED0-173C3A68CBBF}"/>
              </a:ext>
            </a:extLst>
          </p:cNvPr>
          <p:cNvSpPr/>
          <p:nvPr/>
        </p:nvSpPr>
        <p:spPr>
          <a:xfrm>
            <a:off x="290874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9BAACC0-0449-1B4D-65AA-DB966E1E1FBD}"/>
              </a:ext>
            </a:extLst>
          </p:cNvPr>
          <p:cNvSpPr/>
          <p:nvPr/>
        </p:nvSpPr>
        <p:spPr>
          <a:xfrm>
            <a:off x="290874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Coding赛道</a:t>
            </a:r>
            <a:endParaRPr lang="en-US" sz="2200" dirty="0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F1D3FF21-C298-5005-C5BC-C9B331FFB5C9}"/>
              </a:ext>
            </a:extLst>
          </p:cNvPr>
          <p:cNvSpPr/>
          <p:nvPr/>
        </p:nvSpPr>
        <p:spPr>
          <a:xfrm>
            <a:off x="290874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14E09982-23C2-3AD4-5538-48F6A97B5ADB}"/>
              </a:ext>
            </a:extLst>
          </p:cNvPr>
          <p:cNvSpPr/>
          <p:nvPr/>
        </p:nvSpPr>
        <p:spPr>
          <a:xfrm>
            <a:off x="290874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6BA4984D-2D0F-C071-3B7E-1144BE1D7451}"/>
              </a:ext>
            </a:extLst>
          </p:cNvPr>
          <p:cNvSpPr/>
          <p:nvPr/>
        </p:nvSpPr>
        <p:spPr>
          <a:xfrm>
            <a:off x="290874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让智能体成为你的开发搭档。覆盖代码生成、审查、Bug修复、自动化测试、项目脚手架等全研发链路，提升开发效率与代码质量</a:t>
            </a:r>
            <a:endParaRPr lang="en-US" sz="105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0C372FCA-B86F-5B36-1C73-81BBD9471F5D}"/>
              </a:ext>
            </a:extLst>
          </p:cNvPr>
          <p:cNvSpPr/>
          <p:nvPr/>
        </p:nvSpPr>
        <p:spPr>
          <a:xfrm>
            <a:off x="285234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61220233-5F54-C563-7F47-9B9255926E28}"/>
              </a:ext>
            </a:extLst>
          </p:cNvPr>
          <p:cNvSpPr/>
          <p:nvPr/>
        </p:nvSpPr>
        <p:spPr>
          <a:xfrm>
            <a:off x="298036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  ·  根据需求自动生成代码片段</a:t>
            </a:r>
            <a:endParaRPr lang="en-US" sz="100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3ED0E3B4-0D7E-8AE8-772A-BCEB964205FB}"/>
              </a:ext>
            </a:extLst>
          </p:cNvPr>
          <p:cNvSpPr/>
          <p:nvPr/>
        </p:nvSpPr>
        <p:spPr>
          <a:xfrm>
            <a:off x="285234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602A63BE-E58B-76A3-004F-929816CDEC43}"/>
              </a:ext>
            </a:extLst>
          </p:cNvPr>
          <p:cNvSpPr/>
          <p:nvPr/>
        </p:nvSpPr>
        <p:spPr>
          <a:xfrm>
            <a:off x="298036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  ·  自动PR审查，识别潜在问题</a:t>
            </a:r>
            <a:endParaRPr lang="en-US" sz="1000" dirty="0"/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92EA6273-3DDF-DEA6-225F-8B4597856A8A}"/>
              </a:ext>
            </a:extLst>
          </p:cNvPr>
          <p:cNvSpPr/>
          <p:nvPr/>
        </p:nvSpPr>
        <p:spPr>
          <a:xfrm>
            <a:off x="285234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6FB0C60B-A2C5-F580-4871-7477E83E9027}"/>
              </a:ext>
            </a:extLst>
          </p:cNvPr>
          <p:cNvSpPr/>
          <p:nvPr/>
        </p:nvSpPr>
        <p:spPr>
          <a:xfrm>
            <a:off x="298036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Bug修复  ·  定位根因并生成修复方案</a:t>
            </a:r>
            <a:endParaRPr lang="en-US" sz="1000" dirty="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1D5930E8-C7D6-7940-3F5D-87054358A898}"/>
              </a:ext>
            </a:extLst>
          </p:cNvPr>
          <p:cNvSpPr/>
          <p:nvPr/>
        </p:nvSpPr>
        <p:spPr>
          <a:xfrm>
            <a:off x="285234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0B6D7BBD-6022-9EFF-0540-40E197B85712}"/>
              </a:ext>
            </a:extLst>
          </p:cNvPr>
          <p:cNvSpPr/>
          <p:nvPr/>
        </p:nvSpPr>
        <p:spPr>
          <a:xfrm>
            <a:off x="298036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  ·  生成测试用例并执行验证</a:t>
            </a:r>
            <a:endParaRPr lang="en-US" sz="1000" dirty="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9522FB2F-B1F8-8D76-A9CF-F9A174B6823B}"/>
              </a:ext>
            </a:extLst>
          </p:cNvPr>
          <p:cNvSpPr/>
          <p:nvPr/>
        </p:nvSpPr>
        <p:spPr>
          <a:xfrm>
            <a:off x="285234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F012E2A3-ACF7-E0E5-B860-CD4D0F1050E2}"/>
              </a:ext>
            </a:extLst>
          </p:cNvPr>
          <p:cNvSpPr/>
          <p:nvPr/>
        </p:nvSpPr>
        <p:spPr>
          <a:xfrm>
            <a:off x="298036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项目脚手架  ·  快速搭建项目结构与环境</a:t>
            </a:r>
            <a:endParaRPr lang="en-US" sz="1000" dirty="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E9620004-4BF1-DC6F-97F9-31EF94848DBA}"/>
              </a:ext>
            </a:extLst>
          </p:cNvPr>
          <p:cNvSpPr/>
          <p:nvPr/>
        </p:nvSpPr>
        <p:spPr>
          <a:xfrm>
            <a:off x="285234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25F44FE3-DB6D-41A2-F760-3773B9388940}"/>
              </a:ext>
            </a:extLst>
          </p:cNvPr>
          <p:cNvSpPr/>
          <p:nvPr/>
        </p:nvSpPr>
        <p:spPr>
          <a:xfrm>
            <a:off x="298036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代码重构  ·  智能优化代码结构与性能</a:t>
            </a:r>
            <a:endParaRPr lang="en-US" sz="1000" dirty="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527399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543858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5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543858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科研赛道</a:t>
            </a:r>
            <a:endParaRPr lang="en-US" sz="2200" dirty="0"/>
          </a:p>
        </p:txBody>
      </p:sp>
      <p:sp>
        <p:nvSpPr>
          <p:cNvPr id="46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543858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543858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48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543858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让智能体成为你的科研伙伴。从文献检索、实验设计到数据分析、论文写作，全方位辅助科研全流程，激发创新灵感</a:t>
            </a:r>
            <a:endParaRPr lang="en-US" sz="1050" dirty="0"/>
          </a:p>
        </p:txBody>
      </p:sp>
      <p:sp>
        <p:nvSpPr>
          <p:cNvPr id="49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538218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551020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  ·  智能搜索、筛选、综述文献</a:t>
            </a:r>
            <a:endParaRPr lang="en-US" sz="1000" dirty="0"/>
          </a:p>
        </p:txBody>
      </p:sp>
      <p:sp>
        <p:nvSpPr>
          <p:cNvPr id="51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538218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551020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  ·  辅助实验方案设计与优化</a:t>
            </a:r>
            <a:endParaRPr lang="en-US" sz="1000" dirty="0"/>
          </a:p>
        </p:txBody>
      </p:sp>
      <p:sp>
        <p:nvSpPr>
          <p:cNvPr id="5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538218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4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551020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  ·  自动清洗、统计与可视化</a:t>
            </a:r>
            <a:endParaRPr lang="en-US" sz="1000" dirty="0"/>
          </a:p>
        </p:txBody>
      </p:sp>
      <p:sp>
        <p:nvSpPr>
          <p:cNvPr id="55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538218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6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551020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科研写作  ·  辅助论文撰写与引用管理</a:t>
            </a:r>
            <a:endParaRPr lang="en-US" sz="1000" dirty="0"/>
          </a:p>
        </p:txBody>
      </p:sp>
      <p:sp>
        <p:nvSpPr>
          <p:cNvPr id="57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538218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8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551020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创新灵感  ·  跨领域知识关联与思路启发</a:t>
            </a:r>
            <a:endParaRPr lang="en-US" sz="1000" dirty="0"/>
          </a:p>
        </p:txBody>
      </p:sp>
      <p:sp>
        <p:nvSpPr>
          <p:cNvPr id="59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538218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0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551020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学术协作  ·  多人合著、版本管理、同行评审</a:t>
            </a:r>
            <a:endParaRPr lang="en-US" sz="10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51AE0735-2E65-394A-8E61-324C75F29C04}"/>
              </a:ext>
            </a:extLst>
          </p:cNvPr>
          <p:cNvSpPr/>
          <p:nvPr/>
        </p:nvSpPr>
        <p:spPr>
          <a:xfrm>
            <a:off x="285234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538218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A747C67-8B56-FADE-93D7-DE208FF23372}"/>
              </a:ext>
            </a:extLst>
          </p:cNvPr>
          <p:cNvSpPr/>
          <p:nvPr/>
        </p:nvSpPr>
        <p:spPr>
          <a:xfrm>
            <a:off x="194490" y="3891947"/>
            <a:ext cx="11731563" cy="2378889"/>
          </a:xfrm>
          <a:prstGeom prst="roundRect">
            <a:avLst>
              <a:gd name="adj" fmla="val 348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780383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5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796842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796842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设备互联赛道</a:t>
            </a:r>
            <a:endParaRPr lang="en-US" sz="2200" dirty="0"/>
          </a:p>
        </p:txBody>
      </p:sp>
      <p:sp>
        <p:nvSpPr>
          <p:cNvPr id="67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796842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796842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69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796842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让智能体突破数字边界。跟硬件生态结合，实现人机/机机联动，将智能体的眼、手、脚实体化，打造虚实融合新体验</a:t>
            </a:r>
            <a:endParaRPr lang="en-US" sz="105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791202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71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791202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2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791202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791202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791202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5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791202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791202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804004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人机联动  ·  语音、手势、眼动多模态交互</a:t>
            </a:r>
            <a:endParaRPr lang="en-US" sz="1000" dirty="0"/>
          </a:p>
        </p:txBody>
      </p:sp>
      <p:sp>
        <p:nvSpPr>
          <p:cNvPr id="78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804004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机机联动  ·  跨设备协同、任务自动流转</a:t>
            </a:r>
            <a:endParaRPr lang="en-US" sz="1000" dirty="0"/>
          </a:p>
        </p:txBody>
      </p:sp>
      <p:sp>
        <p:nvSpPr>
          <p:cNvPr id="79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804004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智能体眼  ·  摄像头/传感器感知环境</a:t>
            </a:r>
            <a:endParaRPr lang="en-US" sz="1000" dirty="0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804004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智能体手  ·  机械臂/机器人执行物理操作</a:t>
            </a:r>
            <a:endParaRPr lang="en-US" sz="1000" dirty="0"/>
          </a:p>
        </p:txBody>
      </p:sp>
      <p:sp>
        <p:nvSpPr>
          <p:cNvPr id="81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804004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智能体脚  ·  移动平台实现空间自主移动</a:t>
            </a:r>
            <a:endParaRPr lang="en-US" sz="1000" dirty="0"/>
          </a:p>
        </p:txBody>
      </p:sp>
      <p:sp>
        <p:nvSpPr>
          <p:cNvPr id="82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804004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虚实融合  ·  数字孪生、AR/VR联动体验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481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BE5DFA-6732-0FBC-D1EC-464120CBDE7B}"/>
              </a:ext>
            </a:extLst>
          </p:cNvPr>
          <p:cNvGraphicFramePr>
            <a:graphicFrameLocks noGrp="1"/>
          </p:cNvGraphicFramePr>
          <p:nvPr/>
        </p:nvGraphicFramePr>
        <p:xfrm>
          <a:off x="380999" y="1194587"/>
          <a:ext cx="11223171" cy="4468826"/>
        </p:xfrm>
        <a:graphic>
          <a:graphicData uri="http://schemas.openxmlformats.org/drawingml/2006/table">
            <a:tbl>
              <a:tblPr/>
              <a:tblGrid>
                <a:gridCol w="3741057">
                  <a:extLst>
                    <a:ext uri="{9D8B030D-6E8A-4147-A177-3AD203B41FA5}">
                      <a16:colId xmlns:a16="http://schemas.microsoft.com/office/drawing/2014/main" val="1690280833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3684386755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929551258"/>
                    </a:ext>
                  </a:extLst>
                </a:gridCol>
              </a:tblGrid>
              <a:tr h="3734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分数定位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37209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所有团队都必须制作真正的原型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：重大问题或项目未运行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7003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：小错误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6431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7913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：完美执行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1689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：卓越且安全的架构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575128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创新与创造力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（创造性）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致力于寻求</a:t>
                      </a:r>
                      <a:r>
                        <a:rPr lang="en-US" altLang="zh-C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智能体界限的突破性想法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：非原创的想法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03025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：以前尝试过的想法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8785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：有些新意的想法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98022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：新颖的概念或创造性的解决方案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91707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：具有出色实施效果的突破性想法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08223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对现实世界的影响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（价值性）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有可能对用户或垂直领域产生重大影响的工作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：实际用途有限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762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：具有未来潜力，但当前没有影响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87568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：对当前有一定的影响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297662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：解决了重大需求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66701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：具有改变生活的潜力，以创新方式解决关键问题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35955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主题一致性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（相关性）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与本次主题相一致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：与主题几乎不相关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66933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：与主题有表面上的联系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8051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：和主题一致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4110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：清晰而有意义地体现了主题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234"/>
                  </a:ext>
                </a:extLst>
              </a:tr>
              <a:tr h="3876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：完美的体现和提升了主题，展示了先进的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能力在现实场景中的创新应用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94854"/>
                  </a:ext>
                </a:extLst>
              </a:tr>
            </a:tbl>
          </a:graphicData>
        </a:graphic>
      </p:graphicFrame>
      <p:sp>
        <p:nvSpPr>
          <p:cNvPr id="2" name="Text 3">
            <a:extLst>
              <a:ext uri="{FF2B5EF4-FFF2-40B4-BE49-F238E27FC236}">
                <a16:creationId xmlns:a16="http://schemas.microsoft.com/office/drawing/2014/main" id="{65051B87-7043-7750-3C72-244580A55713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附：评分标准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Demo 分镜：60 秒创意版 / 3 分钟 DEMO 版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拍摄要点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60 秒创意版（11-10 前）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5472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3 分钟 DEMO 版（12-27）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422000"/>
            <a:ext cx="523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0–5s 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黑底白字：“AI 写的代码，你敢直接合并吗？”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5–15s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CLI 输入一句话需求（FastAPI 待办：标签筛选 + 分页）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15–30s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回显 6 条验收标准 → 两候选并行生成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30–45s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真跑 pytest：A 红 3/6（A1/A3/A4 失败）、B 绿 6/6（实测）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45–55s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 决策卡：推荐 B，理由指到测试输出；费用见账单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</a:rPr>
              <a:t>55–60s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 Slogan：PromptForge，一次选对，少返工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104000"/>
            <a:ext cx="5238000" cy="18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不剪掉候选 A 失败画面：失败用例名必须出现在屏幕上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费用/耗时来自真实 token 统计，不能手填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录屏分辨率 1080p，命令行字号 ≥16pt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提前准备离线回放，网络故障可直接切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422000"/>
            <a:ext cx="5508000" cy="210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0:00–0:20  问题：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提示词方差大、单模型自评不可靠、返工贵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0:20–0:50  输入：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一句话需求 → SRD 6 条验收标准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0:50–1:40  执行：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两候选各写一版 FastAPI 接口，沙箱真跑，测试红绿滚动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1:40–2:20  证据：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失败用例（A1/A3/A4）、耗时、token 费用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2:20–2:45  决策：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推荐 + 证据链 + 次优 + 成本账单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2:45–3:00  收尾：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可复现、可扩展（WorkSwarm 集群）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72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兜底方案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104000"/>
            <a:ext cx="5508000" cy="18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模型 API 失败 → 缓存上一次真实结果回放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沙箱异常 → 本机 subprocess + 固定依赖锁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断网 → 本地录屏 + 证据回放，不假装实时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双备份：主演示机 + 备用机，提前彩排 ≥2 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 wrap="square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真实证据、指标与兜底（不造假）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对外口径（数据规则）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5256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Demo 必须展示的真实证据（v0.1）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000" y="1062000"/>
            <a:ext cx="5472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兜底与合规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" y="1350000"/>
            <a:ext cx="5238000" cy="2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pytest 通过率：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6 条用例逐条红绿，失败用例名可见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可导入性：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pytest 收集/运行成功即验证；v0.2 加 ruff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执行耗时：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沙箱墙钟时间，方案间可比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token 费用：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真实 usage × 价格快照，写入账单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070C0"/>
                </a:solidFill>
                <a:latin typeface="Microsoft YaHei"/>
                <a:ea typeface="Microsoft YaHei"/>
              </a:rPr>
              <a:t>评委分：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v0.1 未启用 LLM 评委；规则/测试优先（v0.2 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" y="4031999"/>
            <a:ext cx="5238000" cy="19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只引用真实日志；演示前预置数据必须标注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单次运行有波动：A 两次为 3~4/6，B 两次均 6/6；按最新 evidence 引用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不剪掉失败画面；不修改测试用例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证据包 + 原始日志可复算，随仓库提交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350000"/>
            <a:ext cx="5508000" cy="2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模型调用：仅官方 API / 云服务 / 本地部署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API 限流/超时：指数退避 + 备用模型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沙箱失败：本机 subprocess + 依赖锁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现场断网：缓存证据 + 录屏回放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演示数据脱敏；不泄露密钥/内部地址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636000"/>
            <a:ext cx="5472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DoD（Demo v0.1 完成标准）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4031999"/>
            <a:ext cx="5508000" cy="19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一条命令跑通：需求 → 2 候选 → 测试 → 证据 → 决策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总耗时 ≤90 秒（超时则缓存回放）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输出 evidence.json + decision.md，可复算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000" b="0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60 秒真实录屏 + 离线可回放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00" y="6156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</a:rPr>
              <a:t>代码仓库：https://github.com/dissill/LLM ｜ 团队：deforoout ｜ 数据规则：真实日志为准，未实测不写结论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639</Words>
  <Application>Microsoft Office PowerPoint</Application>
  <PresentationFormat>宽屏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微软雅黑</vt:lpstr>
      <vt:lpstr>微软雅黑</vt:lpstr>
      <vt:lpstr>Arial</vt:lpstr>
      <vt:lpstr>Calibri</vt:lpstr>
      <vt:lpstr>Calibri Light</vt:lpstr>
      <vt:lpstr>Georgia</vt:lpstr>
      <vt:lpstr>Office 主题​​</vt:lpstr>
      <vt:lpstr>6_章节页</vt:lpstr>
      <vt:lpstr>End page</vt:lpstr>
      <vt:lpstr>openJiuwen 创意大赛提交模板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zhongzhiyin</cp:lastModifiedBy>
  <cp:revision>3</cp:revision>
  <dcterms:created xsi:type="dcterms:W3CDTF">2026-04-09T09:34:01Z</dcterms:created>
  <dcterms:modified xsi:type="dcterms:W3CDTF">2026-09-09T08:08:05Z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