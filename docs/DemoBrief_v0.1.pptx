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3" r:id="rId3"/>
  </p:sldMasterIdLst>
  <p:notesMasterIdLst>
    <p:notesMasterId r:id="rId11"/>
  </p:notesMasterIdLst>
  <p:sldIdLst>
    <p:sldId id="256" r:id="rId4"/>
    <p:sldId id="427" r:id="rId5"/>
    <p:sldId id="422" r:id="rId6"/>
    <p:sldId id="424" r:id="rId7"/>
    <p:sldId id="425" r:id="rId8"/>
    <p:sldId id="426" r:id="rId9"/>
    <p:sldId id="428" r:id="rId16"/>
    <p:sldId id="429" r:id="rId17"/>
    <p:sldId id="259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28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8.xml"/><Relationship Id="rId17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0EBEBA-E528-4FAE-BE33-4BA9ECD0BE49}" type="datetimeFigureOut">
              <a:rPr lang="zh-CN" altLang="en-US" smtClean="0"/>
              <a:t>2026/9/9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6F69A5-864A-4B9A-828B-07E61DB48DC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67" b="11081"/>
          <a:stretch>
            <a:fillRect/>
          </a:stretch>
        </p:blipFill>
        <p:spPr>
          <a:xfrm>
            <a:off x="0" y="731519"/>
            <a:ext cx="12192000" cy="5366583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66700" y="2396357"/>
            <a:ext cx="6629400" cy="1674857"/>
          </a:xfrm>
          <a:prstGeom prst="rect">
            <a:avLst/>
          </a:prstGeom>
        </p:spPr>
        <p:txBody>
          <a:bodyPr anchor="ctr"/>
          <a:lstStyle>
            <a:lvl1pPr algn="l">
              <a:defRPr sz="32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66700" y="4761189"/>
            <a:ext cx="4488180" cy="79931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1033217" y="1843091"/>
            <a:ext cx="10118107" cy="3013725"/>
          </a:xfrm>
          <a:prstGeom prst="rect">
            <a:avLst/>
          </a:prstGeom>
        </p:spPr>
        <p:txBody>
          <a:bodyPr tIns="90000" bIns="90000"/>
          <a:lstStyle>
            <a:lvl1pPr marL="412750" indent="-398780">
              <a:lnSpc>
                <a:spcPct val="70000"/>
              </a:lnSpc>
              <a:buFont typeface="+mj-lt"/>
              <a:buAutoNum type="arabicPeriod"/>
              <a:defRPr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12750" indent="-398780">
              <a:buFont typeface="+mj-lt"/>
              <a:buAutoNum type="arabicPeriod"/>
              <a:defRPr/>
            </a:lvl2pPr>
            <a:lvl3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cxnSp>
        <p:nvCxnSpPr>
          <p:cNvPr id="3" name="直线连接符 14"/>
          <p:cNvCxnSpPr/>
          <p:nvPr userDrawn="1"/>
        </p:nvCxnSpPr>
        <p:spPr>
          <a:xfrm flipH="1">
            <a:off x="1029516" y="1349255"/>
            <a:ext cx="885621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16"/>
          <p:cNvSpPr txBox="1"/>
          <p:nvPr userDrawn="1"/>
        </p:nvSpPr>
        <p:spPr>
          <a:xfrm>
            <a:off x="918559" y="630376"/>
            <a:ext cx="1147037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目录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8890" y="456134"/>
            <a:ext cx="10736446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2400" b="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595"/>
            </a:lvl2pPr>
            <a:lvl3pPr marL="1186180" indent="0" algn="ctr">
              <a:buNone/>
              <a:defRPr sz="2335"/>
            </a:lvl3pPr>
            <a:lvl4pPr marL="1779270" indent="0" algn="ctr">
              <a:buNone/>
              <a:defRPr sz="2080"/>
            </a:lvl4pPr>
            <a:lvl5pPr marL="2372995" indent="0" algn="ctr">
              <a:buNone/>
              <a:defRPr sz="2080"/>
            </a:lvl5pPr>
            <a:lvl6pPr marL="2966085" indent="0" algn="ctr">
              <a:buNone/>
              <a:defRPr sz="2080"/>
            </a:lvl6pPr>
            <a:lvl7pPr marL="3559175" indent="0" algn="ctr">
              <a:buNone/>
              <a:defRPr sz="2080"/>
            </a:lvl7pPr>
            <a:lvl8pPr marL="4151630" indent="0" algn="ctr">
              <a:buNone/>
              <a:defRPr sz="2080"/>
            </a:lvl8pPr>
            <a:lvl9pPr marL="4745355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622" y="1501993"/>
            <a:ext cx="10729364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5865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25780" indent="-170815">
              <a:buFont typeface="Arial" panose="020B0604020202020204" pitchFamily="34" charset="0"/>
              <a:buChar char="•"/>
              <a:tabLst>
                <a:tab pos="1205865" algn="ctr"/>
              </a:tabLst>
              <a:defRPr sz="1300" baseline="0"/>
            </a:lvl2pPr>
            <a:lvl3pPr marL="525780" indent="-170815">
              <a:buFont typeface="Arial" panose="020B0604020202020204" pitchFamily="34" charset="0"/>
              <a:buChar char="•"/>
              <a:tabLst>
                <a:tab pos="1205865" algn="ctr"/>
              </a:tabLst>
              <a:defRPr sz="1300" baseline="0"/>
            </a:lvl3pPr>
            <a:lvl4pPr marL="525780" indent="-170815">
              <a:buFont typeface="Arial" panose="020B0604020202020204" pitchFamily="34" charset="0"/>
              <a:buChar char="•"/>
              <a:tabLst>
                <a:tab pos="1205865" algn="ctr"/>
              </a:tabLst>
              <a:defRPr sz="1300" baseline="0"/>
            </a:lvl4pPr>
            <a:lvl5pPr marL="525780" indent="-170815">
              <a:buFont typeface="Arial" panose="020B0604020202020204" pitchFamily="34" charset="0"/>
              <a:buChar char="•"/>
              <a:tabLst>
                <a:tab pos="120586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08460" y="284781"/>
            <a:ext cx="10736446" cy="37599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3200" b="1" baseline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662" indent="0" algn="ctr">
              <a:buNone/>
              <a:defRPr sz="2597"/>
            </a:lvl2pPr>
            <a:lvl3pPr marL="1187323" indent="0" algn="ctr">
              <a:buNone/>
              <a:defRPr sz="2337"/>
            </a:lvl3pPr>
            <a:lvl4pPr marL="1780986" indent="0" algn="ctr">
              <a:buNone/>
              <a:defRPr sz="2078"/>
            </a:lvl4pPr>
            <a:lvl5pPr marL="2374648" indent="0" algn="ctr">
              <a:buNone/>
              <a:defRPr sz="2078"/>
            </a:lvl5pPr>
            <a:lvl6pPr marL="2968309" indent="0" algn="ctr">
              <a:buNone/>
              <a:defRPr sz="2078"/>
            </a:lvl6pPr>
            <a:lvl7pPr marL="3561971" indent="0" algn="ctr">
              <a:buNone/>
              <a:defRPr sz="2078"/>
            </a:lvl7pPr>
            <a:lvl8pPr marL="4155634" indent="0" algn="ctr">
              <a:buNone/>
              <a:defRPr sz="2078"/>
            </a:lvl8pPr>
            <a:lvl9pPr marL="4749295" indent="0" algn="ctr">
              <a:buNone/>
              <a:defRPr sz="2078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48821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867858-2669-597E-C783-B470BD6D29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B82273E-6DE7-14C0-75BF-DC711DBDC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9C73CA-6EB6-82F0-72B5-43E11CC83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19447-A5E6-4AF1-B91C-E41E669677F1}" type="datetimeFigureOut">
              <a:rPr lang="zh-CN" altLang="en-US" smtClean="0"/>
              <a:t>2026/9/9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EB28757-E571-9327-D531-9F5EAF4AE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F23CA6-8305-A5EE-E436-19C3496A6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AE1A8-FC57-4C57-A899-A7388D8BB8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3063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p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56906" y="2856476"/>
            <a:ext cx="3919502" cy="830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3765" fontAlgn="auto">
              <a:spcBef>
                <a:spcPts val="0"/>
              </a:spcBef>
              <a:spcAft>
                <a:spcPts val="0"/>
              </a:spcAft>
            </a:pPr>
            <a:r>
              <a:rPr lang="en-US" sz="4800" b="1" dirty="0">
                <a:solidFill>
                  <a:srgbClr val="175CFE"/>
                </a:solidFill>
                <a:latin typeface="Arial" panose="020B0604020202020204"/>
                <a:ea typeface="+mn-ea"/>
              </a:rPr>
              <a:t>Thank you.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theme" Target="../theme/theme2.xml"/><Relationship Id="rId6" Type="http://schemas.openxmlformats.org/officeDocument/2006/relationships/image" Target="../media/image2.png"/><Relationship Id="rId7" Type="http://schemas.openxmlformats.org/officeDocument/2006/relationships/image" Target="../media/image3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3.xml"/><Relationship Id="rId3" Type="http://schemas.openxmlformats.org/officeDocument/2006/relationships/image" Target="../media/image4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733845" y="6526023"/>
            <a:ext cx="49953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2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/>
          <p:cNvGrpSpPr>
            <a:grpSpLocks noChangeAspect="1"/>
          </p:cNvGrpSpPr>
          <p:nvPr userDrawn="1"/>
        </p:nvGrpSpPr>
        <p:grpSpPr>
          <a:xfrm>
            <a:off x="12285671" y="2625392"/>
            <a:ext cx="1967204" cy="4233515"/>
            <a:chOff x="5343885" y="-48857"/>
            <a:chExt cx="3271316" cy="7037279"/>
          </a:xfrm>
        </p:grpSpPr>
        <p:sp>
          <p:nvSpPr>
            <p:cNvPr id="89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196/0/84</a:t>
              </a:r>
            </a:p>
          </p:txBody>
        </p:sp>
        <p:sp>
          <p:nvSpPr>
            <p:cNvPr id="90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203/55/120</a:t>
              </a:r>
            </a:p>
          </p:txBody>
        </p:sp>
        <p:sp>
          <p:nvSpPr>
            <p:cNvPr id="92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237/109/0</a:t>
              </a:r>
            </a:p>
          </p:txBody>
        </p:sp>
        <p:sp>
          <p:nvSpPr>
            <p:cNvPr id="93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6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153/54/54</a:t>
              </a:r>
            </a:p>
          </p:txBody>
        </p:sp>
        <p:sp>
          <p:nvSpPr>
            <p:cNvPr id="94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98/178/48</a:t>
              </a:r>
            </a:p>
          </p:txBody>
        </p:sp>
        <p:sp>
          <p:nvSpPr>
            <p:cNvPr id="95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242/137/68</a:t>
              </a:r>
            </a:p>
          </p:txBody>
        </p:sp>
        <p:sp>
          <p:nvSpPr>
            <p:cNvPr id="96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199/0/11  </a:t>
              </a:r>
            </a:p>
          </p:txBody>
        </p:sp>
        <p:sp>
          <p:nvSpPr>
            <p:cNvPr id="97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200/16/46  </a:t>
              </a:r>
            </a:p>
          </p:txBody>
        </p:sp>
        <p:sp>
          <p:nvSpPr>
            <p:cNvPr id="99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127/0/1</a:t>
              </a:r>
            </a:p>
          </p:txBody>
        </p:sp>
        <p:sp>
          <p:nvSpPr>
            <p:cNvPr id="100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52/200/0</a:t>
              </a:r>
            </a:p>
          </p:txBody>
        </p:sp>
        <p:sp>
          <p:nvSpPr>
            <p:cNvPr id="101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48/181/197</a:t>
              </a:r>
            </a:p>
          </p:txBody>
        </p:sp>
        <p:sp>
          <p:nvSpPr>
            <p:cNvPr id="102" name="矩形 13"/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129/193/95</a:t>
              </a:r>
            </a:p>
          </p:txBody>
        </p:sp>
        <p:sp>
          <p:nvSpPr>
            <p:cNvPr id="103" name="矩形 13"/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253/211/81</a:t>
              </a:r>
            </a:p>
          </p:txBody>
        </p:sp>
        <p:sp>
          <p:nvSpPr>
            <p:cNvPr id="104" name="矩形 13"/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86/196/210</a:t>
              </a:r>
            </a:p>
          </p:txBody>
        </p:sp>
        <p:sp>
          <p:nvSpPr>
            <p:cNvPr id="105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211/57/65</a:t>
              </a:r>
            </a:p>
          </p:txBody>
        </p:sp>
        <p:sp>
          <p:nvSpPr>
            <p:cNvPr id="106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211/56/89</a:t>
              </a:r>
            </a:p>
          </p:txBody>
        </p:sp>
        <p:sp>
          <p:nvSpPr>
            <p:cNvPr id="107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221/128/170</a:t>
              </a:r>
            </a:p>
          </p:txBody>
        </p:sp>
        <p:sp>
          <p:nvSpPr>
            <p:cNvPr id="108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6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191/128/130</a:t>
              </a:r>
            </a:p>
          </p:txBody>
        </p:sp>
        <p:sp>
          <p:nvSpPr>
            <p:cNvPr id="109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246/183/140</a:t>
              </a:r>
            </a:p>
          </p:txBody>
        </p:sp>
        <p:sp>
          <p:nvSpPr>
            <p:cNvPr id="110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176/216/156</a:t>
              </a:r>
            </a:p>
          </p:txBody>
        </p:sp>
        <p:sp>
          <p:nvSpPr>
            <p:cNvPr id="111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253/227/181</a:t>
              </a:r>
            </a:p>
          </p:txBody>
        </p:sp>
        <p:sp>
          <p:nvSpPr>
            <p:cNvPr id="112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148/218/226</a:t>
              </a:r>
            </a:p>
          </p:txBody>
        </p:sp>
        <p:sp>
          <p:nvSpPr>
            <p:cNvPr id="113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226/129/137</a:t>
              </a:r>
            </a:p>
          </p:txBody>
        </p:sp>
        <p:sp>
          <p:nvSpPr>
            <p:cNvPr id="114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226/129/152</a:t>
              </a:r>
            </a:p>
          </p:txBody>
        </p:sp>
        <p:sp>
          <p:nvSpPr>
            <p:cNvPr id="115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235/179/204</a:t>
              </a:r>
            </a:p>
          </p:txBody>
        </p:sp>
        <p:sp>
          <p:nvSpPr>
            <p:cNvPr id="116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6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216/179/179</a:t>
              </a:r>
            </a:p>
          </p:txBody>
        </p:sp>
        <p:sp>
          <p:nvSpPr>
            <p:cNvPr id="117" name="矩形 13"/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250/211/187</a:t>
              </a:r>
            </a:p>
          </p:txBody>
        </p:sp>
        <p:sp>
          <p:nvSpPr>
            <p:cNvPr id="118" name="矩形 13"/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208/232/196</a:t>
              </a:r>
            </a:p>
          </p:txBody>
        </p:sp>
        <p:sp>
          <p:nvSpPr>
            <p:cNvPr id="119" name="矩形 13"/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254/238/193</a:t>
              </a:r>
            </a:p>
          </p:txBody>
        </p:sp>
        <p:sp>
          <p:nvSpPr>
            <p:cNvPr id="120" name="矩形 13"/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190/233/238</a:t>
              </a:r>
            </a:p>
          </p:txBody>
        </p:sp>
        <p:sp>
          <p:nvSpPr>
            <p:cNvPr id="121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239/178/184</a:t>
              </a:r>
            </a:p>
          </p:txBody>
        </p:sp>
        <p:sp>
          <p:nvSpPr>
            <p:cNvPr id="122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238/179/193</a:t>
              </a:r>
            </a:p>
          </p:txBody>
        </p:sp>
        <p:sp>
          <p:nvSpPr>
            <p:cNvPr id="123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0/0/0</a:t>
              </a:r>
            </a:p>
          </p:txBody>
        </p:sp>
        <p:sp>
          <p:nvSpPr>
            <p:cNvPr id="124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89/87/87</a:t>
              </a:r>
            </a:p>
          </p:txBody>
        </p:sp>
        <p:sp>
          <p:nvSpPr>
            <p:cNvPr id="125" name="矩形 13"/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</a:t>
              </a:r>
            </a:p>
          </p:txBody>
        </p:sp>
        <p:sp>
          <p:nvSpPr>
            <p:cNvPr id="126" name="矩形 13"/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</a:t>
              </a:r>
            </a:p>
          </p:txBody>
        </p:sp>
        <p:sp>
          <p:nvSpPr>
            <p:cNvPr id="127" name="矩形 13"/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221</a:t>
              </a:r>
            </a:p>
          </p:txBody>
        </p:sp>
        <p:sp>
          <p:nvSpPr>
            <p:cNvPr id="128" name="矩形 13"/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</a:t>
              </a:r>
            </a:p>
          </p:txBody>
        </p:sp>
      </p:grpSp>
      <p:pic>
        <p:nvPicPr>
          <p:cNvPr id="49" name="图片 48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9233" y="6477212"/>
            <a:ext cx="252000" cy="252000"/>
          </a:xfrm>
          <a:prstGeom prst="rect">
            <a:avLst/>
          </a:prstGeom>
        </p:spPr>
      </p:pic>
      <p:pic>
        <p:nvPicPr>
          <p:cNvPr id="50" name="图片 49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216" y="6483431"/>
            <a:ext cx="888325" cy="19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6" r:id="rId3"/>
    <p:sldLayoutId id="2147483657" r:id="rId4"/>
  </p:sldLayoutIdLst>
  <p:hf hdr="0" ftr="0" dt="0"/>
  <p:txStyles>
    <p:titleStyle>
      <a:lvl1pPr algn="l" defTabSz="118681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681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270" indent="-297180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3360" indent="-297180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7085" indent="-297180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0810" indent="-297180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3900" indent="-297180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57625" indent="-297180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1350" indent="-297180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5075" indent="-297180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81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681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6815" algn="l" defTabSz="118681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0540" algn="l" defTabSz="118681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4265" algn="l" defTabSz="118681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7355" algn="l" defTabSz="118681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1080" algn="l" defTabSz="118681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4170" algn="l" defTabSz="118681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47895" algn="l" defTabSz="118681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86662"/>
            <a:ext cx="12192000" cy="2084676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2479" y="2386662"/>
            <a:ext cx="3982676" cy="208467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hf sldNum="0" hdr="0" ftr="0"/>
  <p:txStyles>
    <p:titleStyle>
      <a:lvl1pPr algn="l" defTabSz="1186815" rtl="0" eaLnBrk="1" latinLnBrk="0" hangingPunct="1">
        <a:lnSpc>
          <a:spcPct val="90000"/>
        </a:lnSpc>
        <a:spcBef>
          <a:spcPct val="0"/>
        </a:spcBef>
        <a:buNone/>
        <a:defRPr sz="4400" b="0" kern="12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1pPr>
    </p:titleStyle>
    <p:bodyStyle>
      <a:lvl1pPr marL="0" indent="0" algn="l" defTabSz="118681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None/>
        <a:defRPr sz="1820" kern="1200">
          <a:solidFill>
            <a:srgbClr val="FFFFFF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593725" indent="0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15" kern="1200">
          <a:solidFill>
            <a:schemeClr val="tx1"/>
          </a:solidFill>
          <a:latin typeface="+mn-lt"/>
          <a:ea typeface="+mn-ea"/>
          <a:cs typeface="+mn-cs"/>
        </a:defRPr>
      </a:lvl2pPr>
      <a:lvl3pPr marL="1186815" indent="0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595" kern="1200">
          <a:solidFill>
            <a:schemeClr val="tx1"/>
          </a:solidFill>
          <a:latin typeface="+mn-lt"/>
          <a:ea typeface="+mn-ea"/>
          <a:cs typeface="+mn-cs"/>
        </a:defRPr>
      </a:lvl3pPr>
      <a:lvl4pPr marL="1780540" indent="0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373630" indent="0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326390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85762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45071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504444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2pPr>
      <a:lvl3pPr marL="118681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3pPr>
      <a:lvl4pPr marL="178054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37363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296735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56108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15417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474789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err="1"/>
              <a:t>openJiuwen</a:t>
            </a:r>
            <a:r>
              <a:rPr lang="en-US" altLang="zh-CN" dirty="0"/>
              <a:t> </a:t>
            </a:r>
            <a:r>
              <a:rPr lang="zh-CN" altLang="en-US" dirty="0"/>
              <a:t>创意大赛提交模板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ext cx="10080000" cy="0"/>
          </a:xfrm>
        </p:spPr>
        <p:txBody>
          <a:bodyPr wrap="square" anchor="t" lIns="0" rIns="0" tIns="0" bIns="0">
            <a:noAutofit/>
          </a:bodyPr>
          <a:lstStyle/>
          <a:p>
            <a:r>
              <a:rPr sz="2000" b="1">
                <a:solidFill>
                  <a:srgbClr val="C00000"/>
                </a:solidFill>
                <a:latin typeface="Microsoft YaHei"/>
                <a:ea typeface="Microsoft YaHei"/>
              </a:rPr>
              <a:t>PromptForge（提示词锻造台）｜ Coding 赛道 ｜ deforoout队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1">
            <a:extLst>
              <a:ext uri="{FF2B5EF4-FFF2-40B4-BE49-F238E27FC236}">
                <a16:creationId xmlns:a16="http://schemas.microsoft.com/office/drawing/2014/main" id="{1145A6A4-8EAF-45AC-8D5B-79E3BFFBB9E0}"/>
              </a:ext>
            </a:extLst>
          </p:cNvPr>
          <p:cNvSpPr txBox="1">
            <a:spLocks/>
          </p:cNvSpPr>
          <p:nvPr/>
        </p:nvSpPr>
        <p:spPr>
          <a:xfrm>
            <a:off x="345362" y="249186"/>
            <a:ext cx="10736446" cy="375990"/>
          </a:xfrm>
          <a:prstGeom prst="rect">
            <a:avLst/>
          </a:prstGeom>
        </p:spPr>
        <p:txBody>
          <a:bodyPr lIns="0" tIns="0" rIns="0" bIns="0" anchor="t" wrap="square">
            <a:noAutofit/>
          </a:bodyPr>
          <a:lstStyle>
            <a:lvl1pPr marL="0" indent="0" algn="l" defTabSz="1187323" rtl="0" eaLnBrk="1" latinLnBrk="0" hangingPunct="1">
              <a:lnSpc>
                <a:spcPts val="3429"/>
              </a:lnSpc>
              <a:spcBef>
                <a:spcPts val="0"/>
              </a:spcBef>
              <a:buFont typeface="Arial" panose="020B0604020202020204" pitchFamily="34" charset="0"/>
              <a:buNone/>
              <a:defRPr sz="3200" b="1" kern="1200" baseline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593662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5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7323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3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0986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4648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8309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1971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5634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49295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600" b="1">
                <a:solidFill>
                  <a:srgbClr val="C00000"/>
                </a:solidFill>
                <a:latin typeface="Microsoft YaHei"/>
                <a:ea typeface="Microsoft YaHei"/>
              </a:rPr>
              <a:t>创意名称  PromptForge（提示词锻造台）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76111ED-963D-46F4-85AB-E9DCC68E3ED9}"/>
              </a:ext>
            </a:extLst>
          </p:cNvPr>
          <p:cNvSpPr/>
          <p:nvPr/>
        </p:nvSpPr>
        <p:spPr>
          <a:xfrm>
            <a:off x="518689" y="1053884"/>
            <a:ext cx="4138552" cy="369332"/>
          </a:xfrm>
          <a:prstGeom prst="rect">
            <a:avLst/>
          </a:prstGeom>
        </p:spPr>
        <p:txBody>
          <a:bodyPr wrap="square" anchor="t" lIns="0" rIns="0" tIns="0" bIns="0">
            <a:noAutofit/>
          </a:bodyPr>
          <a:lstStyle/>
          <a:p>
            <a:r>
              <a:rPr sz="2000" b="1">
                <a:solidFill>
                  <a:srgbClr val="2B2B2B"/>
                </a:solidFill>
                <a:latin typeface="Microsoft YaHei"/>
                <a:ea typeface="Microsoft YaHei"/>
              </a:rPr>
              <a:t>创意描述</a:t>
            </a:r>
            <a:r>
              <a:rPr sz="2000" b="1">
                <a:solidFill>
                  <a:srgbClr val="C00000"/>
                </a:solidFill>
                <a:latin typeface="Microsoft YaHei"/>
                <a:ea typeface="Microsoft YaHei"/>
              </a:rPr>
              <a:t>（必填，&lt;500 字）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5B6ECBD-A721-4AD2-B2AF-9ADDA264E9FA}"/>
              </a:ext>
            </a:extLst>
          </p:cNvPr>
          <p:cNvSpPr/>
          <p:nvPr/>
        </p:nvSpPr>
        <p:spPr>
          <a:xfrm>
            <a:off x="797658" y="5077577"/>
            <a:ext cx="41385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所属主题</a:t>
            </a:r>
            <a:r>
              <a:rPr lang="zh-CN" altLang="en-US" b="1" dirty="0">
                <a:solidFill>
                  <a:srgbClr val="C00000"/>
                </a:solidFill>
              </a:rPr>
              <a:t>（必填）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C426FC6-34D5-4887-8F37-EB2224DB683A}"/>
              </a:ext>
            </a:extLst>
          </p:cNvPr>
          <p:cNvSpPr/>
          <p:nvPr/>
        </p:nvSpPr>
        <p:spPr>
          <a:xfrm>
            <a:off x="7118384" y="1053884"/>
            <a:ext cx="41385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应用场景</a:t>
            </a:r>
            <a:r>
              <a:rPr lang="zh-CN" altLang="en-US" b="1" dirty="0">
                <a:solidFill>
                  <a:srgbClr val="C00000"/>
                </a:solidFill>
              </a:rPr>
              <a:t>（必填）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9C6943AB-BE73-4EA4-86B4-BE89093FCE99}"/>
              </a:ext>
            </a:extLst>
          </p:cNvPr>
          <p:cNvSpPr/>
          <p:nvPr/>
        </p:nvSpPr>
        <p:spPr>
          <a:xfrm>
            <a:off x="88900" y="889348"/>
            <a:ext cx="11950700" cy="5436296"/>
          </a:xfrm>
          <a:prstGeom prst="roundRect">
            <a:avLst>
              <a:gd name="adj" fmla="val 8257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1412FABC-FF23-43D9-BC0E-FC6FB3E551E7}"/>
              </a:ext>
            </a:extLst>
          </p:cNvPr>
          <p:cNvCxnSpPr>
            <a:cxnSpLocks/>
          </p:cNvCxnSpPr>
          <p:nvPr/>
        </p:nvCxnSpPr>
        <p:spPr>
          <a:xfrm>
            <a:off x="88900" y="4998070"/>
            <a:ext cx="5795375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BE8267FD-BF60-4A01-83C9-9929DF12CFCE}"/>
              </a:ext>
            </a:extLst>
          </p:cNvPr>
          <p:cNvCxnSpPr>
            <a:cxnSpLocks/>
          </p:cNvCxnSpPr>
          <p:nvPr/>
        </p:nvCxnSpPr>
        <p:spPr>
          <a:xfrm>
            <a:off x="5811864" y="889348"/>
            <a:ext cx="0" cy="5436296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9EFC3242-0537-4CD3-8635-4D2A7F2E739D}"/>
              </a:ext>
            </a:extLst>
          </p:cNvPr>
          <p:cNvSpPr/>
          <p:nvPr/>
        </p:nvSpPr>
        <p:spPr>
          <a:xfrm>
            <a:off x="922152" y="5574886"/>
            <a:ext cx="4455759" cy="458459"/>
          </a:xfrm>
          <a:prstGeom prst="rect">
            <a:avLst/>
          </a:prstGeom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50000"/>
              </a:lnSpc>
            </a:pPr>
            <a:r>
              <a:rPr sz="2000" b="1">
                <a:solidFill>
                  <a:srgbClr val="C00000"/>
                </a:solidFill>
                <a:latin typeface="Microsoft YaHei"/>
                <a:ea typeface="Microsoft YaHei"/>
              </a:rPr>
              <a:t>Coding 赛道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37520" y="635508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AI生成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8400" y="1458000"/>
            <a:ext cx="5238000" cy="324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150" b="1">
                <a:solidFill>
                  <a:srgbClr val="0070C0"/>
                </a:solidFill>
                <a:latin typeface="Microsoft YaHei"/>
                <a:ea typeface="Microsoft YaHei"/>
              </a:rPr>
              <a:t>痛点：</a:t>
            </a:r>
            <a:r>
              <a:rPr sz="1150" b="0">
                <a:solidFill>
                  <a:srgbClr val="2B2B2B"/>
                </a:solidFill>
                <a:latin typeface="Microsoft YaHei"/>
                <a:ea typeface="Microsoft YaHei"/>
              </a:rPr>
              <a:t>AI 开发每天面对大量“一句话需求”，但提示词质量参差、单模型自评不可靠、方案返工成本高。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150" b="1">
                <a:solidFill>
                  <a:srgbClr val="0070C0"/>
                </a:solidFill>
                <a:latin typeface="Microsoft YaHei"/>
                <a:ea typeface="Microsoft YaHei"/>
              </a:rPr>
              <a:t>做法：</a:t>
            </a:r>
            <a:r>
              <a:rPr sz="1150" b="0">
                <a:solidFill>
                  <a:srgbClr val="2B2B2B"/>
                </a:solidFill>
                <a:latin typeface="Microsoft YaHei"/>
                <a:ea typeface="Microsoft YaHei"/>
              </a:rPr>
              <a:t>PromptForge 是 AI 开发者的“提示词编译器 + 评审会”：把关键词编译成含验收标准的任务规格，生成 2~4 个“假设不同”的候选提示词，调用多个模型真实执行并自动跑测试，采集测试通过率、lint、耗时与费用等证据，再由异构评委盲评，用 TOPSIS/Pareto 选出可解释的最优方案，并给出成本账单。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150" b="1">
                <a:solidFill>
                  <a:srgbClr val="0070C0"/>
                </a:solidFill>
                <a:latin typeface="Microsoft YaHei"/>
                <a:ea typeface="Microsoft YaHei"/>
              </a:rPr>
              <a:t>Demo v0.1：</a:t>
            </a:r>
            <a:r>
              <a:rPr sz="1150" b="0">
                <a:solidFill>
                  <a:srgbClr val="2B2B2B"/>
                </a:solidFill>
                <a:latin typeface="Microsoft YaHei"/>
                <a:ea typeface="Microsoft YaHei"/>
              </a:rPr>
              <a:t>聚焦 Coding 场景——给已有 FastAPI 待办 API 加“标签筛选 + 分页” → 两份候选实现 → 真跑 6 条 pytest → 证据对比 → 推荐方案。我们不做“更会聊天的提示词工具”，而是让“选哪个方案”第一次有证据、可复现、可算账。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8000" y="1458000"/>
            <a:ext cx="5112000" cy="442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150" b="1">
                <a:solidFill>
                  <a:srgbClr val="0070C0"/>
                </a:solidFill>
                <a:latin typeface="Microsoft YaHei"/>
                <a:ea typeface="Microsoft YaHei"/>
              </a:rPr>
              <a:t>用户：</a:t>
            </a:r>
            <a:r>
              <a:rPr sz="1150" b="0">
                <a:solidFill>
                  <a:srgbClr val="2B2B2B"/>
                </a:solidFill>
                <a:latin typeface="Microsoft YaHei"/>
                <a:ea typeface="Microsoft YaHei"/>
              </a:rPr>
              <a:t>独立开发者、高校学生、2~20 人研发团队；接到一句话需求、需要给现有项目加功能/修 Bug/做方案选型的人。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150" b="1">
                <a:solidFill>
                  <a:srgbClr val="0070C0"/>
                </a:solidFill>
                <a:latin typeface="Microsoft YaHei"/>
                <a:ea typeface="Microsoft YaHei"/>
              </a:rPr>
              <a:t>场景：</a:t>
            </a:r>
            <a:r>
              <a:rPr sz="1150" b="0">
                <a:solidFill>
                  <a:srgbClr val="2B2B2B"/>
                </a:solidFill>
                <a:latin typeface="Microsoft YaHei"/>
                <a:ea typeface="Microsoft YaHei"/>
              </a:rPr>
              <a:t>先用 PromptForge 把“给待办列表加标签筛选和分页”变成 6 条可执行验收标准；多个模型各写一版 app/main.py；系统真实跑 pytest，按证据选方案，并给出成本账单。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150" b="1">
                <a:solidFill>
                  <a:srgbClr val="0070C0"/>
                </a:solidFill>
                <a:latin typeface="Microsoft YaHei"/>
                <a:ea typeface="Microsoft YaHei"/>
              </a:rPr>
              <a:t>价值：</a:t>
            </a:r>
            <a:r>
              <a:rPr sz="1150" b="0">
                <a:solidFill>
                  <a:srgbClr val="2B2B2B"/>
                </a:solidFill>
                <a:latin typeface="Microsoft YaHei"/>
                <a:ea typeface="Microsoft YaHei"/>
              </a:rPr>
              <a:t>对个人，降低与 AI 协作的提示词门槛；对团队，把方案评审从“拍脑袋”变成“看数据”，减少返工轮数与 token 浪费；对 AI 开发流程，让“选方案”第一次可复现、可审计。</a:t>
            </a:r>
          </a:p>
        </p:txBody>
      </p:sp>
    </p:spTree>
    <p:extLst>
      <p:ext uri="{BB962C8B-B14F-4D97-AF65-F5344CB8AC3E}">
        <p14:creationId xmlns:p14="http://schemas.microsoft.com/office/powerpoint/2010/main" val="2564287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1">
            <a:extLst>
              <a:ext uri="{FF2B5EF4-FFF2-40B4-BE49-F238E27FC236}">
                <a16:creationId xmlns:a16="http://schemas.microsoft.com/office/drawing/2014/main" id="{DFE061A5-89C1-4791-A5E4-A22684C29189}"/>
              </a:ext>
            </a:extLst>
          </p:cNvPr>
          <p:cNvSpPr txBox="1">
            <a:spLocks/>
          </p:cNvSpPr>
          <p:nvPr/>
        </p:nvSpPr>
        <p:spPr>
          <a:xfrm>
            <a:off x="345362" y="249186"/>
            <a:ext cx="10736446" cy="37599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 defTabSz="1187323" rtl="0" eaLnBrk="1" latinLnBrk="0" hangingPunct="1">
              <a:lnSpc>
                <a:spcPts val="3429"/>
              </a:lnSpc>
              <a:spcBef>
                <a:spcPts val="0"/>
              </a:spcBef>
              <a:buFont typeface="Arial" panose="020B0604020202020204" pitchFamily="34" charset="0"/>
              <a:buNone/>
              <a:defRPr sz="3200" b="1" kern="1200" baseline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593662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5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7323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3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0986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4648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8309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1971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5634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49295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创意方案构想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1412FABC-FF23-43D9-BC0E-FC6FB3E551E7}"/>
              </a:ext>
            </a:extLst>
          </p:cNvPr>
          <p:cNvCxnSpPr>
            <a:cxnSpLocks/>
            <a:stCxn id="6" idx="1"/>
            <a:endCxn id="6" idx="3"/>
          </p:cNvCxnSpPr>
          <p:nvPr/>
        </p:nvCxnSpPr>
        <p:spPr>
          <a:xfrm>
            <a:off x="88900" y="3607496"/>
            <a:ext cx="11950700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BE8267FD-BF60-4A01-83C9-9929DF12CFCE}"/>
              </a:ext>
            </a:extLst>
          </p:cNvPr>
          <p:cNvCxnSpPr>
            <a:cxnSpLocks/>
          </p:cNvCxnSpPr>
          <p:nvPr/>
        </p:nvCxnSpPr>
        <p:spPr>
          <a:xfrm>
            <a:off x="5795376" y="3623415"/>
            <a:ext cx="0" cy="2739285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83F2A6C2-0B11-48B1-B070-FF9968A32862}"/>
              </a:ext>
            </a:extLst>
          </p:cNvPr>
          <p:cNvSpPr/>
          <p:nvPr/>
        </p:nvSpPr>
        <p:spPr>
          <a:xfrm>
            <a:off x="88900" y="889348"/>
            <a:ext cx="11950700" cy="5436296"/>
          </a:xfrm>
          <a:prstGeom prst="roundRect">
            <a:avLst>
              <a:gd name="adj" fmla="val 8257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1B0417D-87D1-435A-A19A-C07FC4D39D6F}"/>
              </a:ext>
            </a:extLst>
          </p:cNvPr>
          <p:cNvSpPr txBox="1"/>
          <p:nvPr/>
        </p:nvSpPr>
        <p:spPr>
          <a:xfrm>
            <a:off x="415677" y="3763412"/>
            <a:ext cx="1901315" cy="3429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方案优势（可选）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3900522-0BC3-4410-943D-64E58AD7FB10}"/>
              </a:ext>
            </a:extLst>
          </p:cNvPr>
          <p:cNvSpPr txBox="1"/>
          <p:nvPr/>
        </p:nvSpPr>
        <p:spPr>
          <a:xfrm>
            <a:off x="300624" y="1023604"/>
            <a:ext cx="2414076" cy="3429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方案详情</a:t>
            </a:r>
            <a:r>
              <a:rPr kumimoji="1" lang="zh-CN" altLang="en-US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（必填）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C809043-1679-4A48-8CD7-9355B9D516E7}"/>
              </a:ext>
            </a:extLst>
          </p:cNvPr>
          <p:cNvSpPr txBox="1"/>
          <p:nvPr/>
        </p:nvSpPr>
        <p:spPr>
          <a:xfrm>
            <a:off x="5940000" y="1062000"/>
            <a:ext cx="1984763" cy="3429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技术依赖（可选）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600" y="1422000"/>
            <a:ext cx="5238000" cy="2106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5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50" b="1">
                <a:solidFill>
                  <a:srgbClr val="0070C0"/>
                </a:solidFill>
                <a:latin typeface="Microsoft YaHei"/>
                <a:ea typeface="Microsoft YaHei"/>
              </a:rPr>
              <a:t>需求编译：</a:t>
            </a:r>
            <a:r>
              <a:rPr sz="1050" b="0">
                <a:solidFill>
                  <a:srgbClr val="2B2B2B"/>
                </a:solidFill>
                <a:latin typeface="Microsoft YaHei"/>
                <a:ea typeface="Microsoft YaHei"/>
              </a:rPr>
              <a:t>一句话 → SRD（目标/约束/6 条可执行验收标准）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5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50" b="1">
                <a:solidFill>
                  <a:srgbClr val="0070C0"/>
                </a:solidFill>
                <a:latin typeface="Microsoft YaHei"/>
                <a:ea typeface="Microsoft YaHei"/>
              </a:rPr>
              <a:t>多候选生成：</a:t>
            </a:r>
            <a:r>
              <a:rPr sz="1050" b="0">
                <a:solidFill>
                  <a:srgbClr val="2B2B2B"/>
                </a:solidFill>
                <a:latin typeface="Microsoft YaHei"/>
                <a:ea typeface="Microsoft YaHei"/>
              </a:rPr>
              <a:t>2~4 个“假设不同”的提示词（如先写测试 vs 直接实现）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5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50" b="1">
                <a:solidFill>
                  <a:srgbClr val="0070C0"/>
                </a:solidFill>
                <a:latin typeface="Microsoft YaHei"/>
                <a:ea typeface="Microsoft YaHei"/>
              </a:rPr>
              <a:t>真实执行：</a:t>
            </a:r>
            <a:r>
              <a:rPr sz="1050" b="0">
                <a:solidFill>
                  <a:srgbClr val="2B2B2B"/>
                </a:solidFill>
                <a:latin typeface="Microsoft YaHei"/>
                <a:ea typeface="Microsoft YaHei"/>
              </a:rPr>
              <a:t>多模型生成代码 → 沙箱跑 pytest/lint，采集证据包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5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50" b="1">
                <a:solidFill>
                  <a:srgbClr val="0070C0"/>
                </a:solidFill>
                <a:latin typeface="Microsoft YaHei"/>
                <a:ea typeface="Microsoft YaHei"/>
              </a:rPr>
              <a:t>异构评审：</a:t>
            </a:r>
            <a:r>
              <a:rPr sz="1050" b="0">
                <a:solidFill>
                  <a:srgbClr val="2B2B2B"/>
                </a:solidFill>
                <a:latin typeface="Microsoft YaHei"/>
                <a:ea typeface="Microsoft YaHei"/>
              </a:rPr>
              <a:t>2~3 个不同模型盲评 + 规则校验，输出一致性/置信说明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5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50" b="1">
                <a:solidFill>
                  <a:srgbClr val="0070C0"/>
                </a:solidFill>
                <a:latin typeface="Microsoft YaHei"/>
                <a:ea typeface="Microsoft YaHei"/>
              </a:rPr>
              <a:t>决策交付：</a:t>
            </a:r>
            <a:r>
              <a:rPr sz="1050" b="0">
                <a:solidFill>
                  <a:srgbClr val="2B2B2B"/>
                </a:solidFill>
                <a:latin typeface="Microsoft YaHei"/>
                <a:ea typeface="Microsoft YaHei"/>
              </a:rPr>
              <a:t>硬约束过滤 → TOPSIS/Pareto → 决策卡（推荐/证据/费用）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5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50" b="1">
                <a:solidFill>
                  <a:srgbClr val="0070C0"/>
                </a:solidFill>
                <a:latin typeface="Microsoft YaHei"/>
                <a:ea typeface="Microsoft YaHei"/>
              </a:rPr>
              <a:t>可复现：</a:t>
            </a:r>
            <a:r>
              <a:rPr sz="1050" b="0">
                <a:solidFill>
                  <a:srgbClr val="2B2B2B"/>
                </a:solidFill>
                <a:latin typeface="Microsoft YaHei"/>
                <a:ea typeface="Microsoft YaHei"/>
              </a:rPr>
              <a:t>Prompt DAG 记录来源、证据与费用，可回放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600" y="4104000"/>
            <a:ext cx="5238000" cy="190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5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50" b="1">
                <a:solidFill>
                  <a:srgbClr val="0070C0"/>
                </a:solidFill>
                <a:latin typeface="Microsoft YaHei"/>
                <a:ea typeface="Microsoft YaHei"/>
              </a:rPr>
              <a:t>证据而非感觉：</a:t>
            </a:r>
            <a:r>
              <a:rPr sz="1050" b="0">
                <a:solidFill>
                  <a:srgbClr val="2B2B2B"/>
                </a:solidFill>
                <a:latin typeface="Microsoft YaHei"/>
                <a:ea typeface="Microsoft YaHei"/>
              </a:rPr>
              <a:t>测试通过率、lint、耗时、费用都是真实执行结果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5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50" b="1">
                <a:solidFill>
                  <a:srgbClr val="0070C0"/>
                </a:solidFill>
                <a:latin typeface="Microsoft YaHei"/>
                <a:ea typeface="Microsoft YaHei"/>
              </a:rPr>
              <a:t>多假设而非同义改写：</a:t>
            </a:r>
            <a:r>
              <a:rPr sz="1050" b="0">
                <a:solidFill>
                  <a:srgbClr val="2B2B2B"/>
                </a:solidFill>
                <a:latin typeface="Microsoft YaHei"/>
                <a:ea typeface="Microsoft YaHei"/>
              </a:rPr>
              <a:t>候选对应不同架构/验证策略，差异有信息量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5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50" b="1">
                <a:solidFill>
                  <a:srgbClr val="0070C0"/>
                </a:solidFill>
                <a:latin typeface="Microsoft YaHei"/>
                <a:ea typeface="Microsoft YaHei"/>
              </a:rPr>
              <a:t>可解释：</a:t>
            </a:r>
            <a:r>
              <a:rPr sz="1050" b="0">
                <a:solidFill>
                  <a:srgbClr val="2B2B2B"/>
                </a:solidFill>
                <a:latin typeface="Microsoft YaHei"/>
                <a:ea typeface="Microsoft YaHei"/>
              </a:rPr>
              <a:t>每个评分指得到具体证据；分差在置信区间内不强行排序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5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50" b="1">
                <a:solidFill>
                  <a:srgbClr val="0070C0"/>
                </a:solidFill>
                <a:latin typeface="Microsoft YaHei"/>
                <a:ea typeface="Microsoft YaHei"/>
              </a:rPr>
              <a:t>成本可控：</a:t>
            </a:r>
            <a:r>
              <a:rPr sz="1050" b="0">
                <a:solidFill>
                  <a:srgbClr val="2B2B2B"/>
                </a:solidFill>
                <a:latin typeface="Microsoft YaHei"/>
                <a:ea typeface="Microsoft YaHei"/>
              </a:rPr>
              <a:t>Token Ledger + 剪枝/早停，预算内给当前最优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76000" y="1422000"/>
            <a:ext cx="5508000" cy="2106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0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00" b="1">
                <a:solidFill>
                  <a:srgbClr val="0070C0"/>
                </a:solidFill>
                <a:latin typeface="Microsoft YaHei"/>
                <a:ea typeface="Microsoft YaHei"/>
              </a:rPr>
              <a:t>openJiuwen WorkSwarm / AgentOS：</a:t>
            </a:r>
            <a:r>
              <a:rPr sz="1000" b="0">
                <a:solidFill>
                  <a:srgbClr val="2B2B2B"/>
                </a:solidFill>
                <a:latin typeface="Microsoft YaHei"/>
                <a:ea typeface="Microsoft YaHei"/>
              </a:rPr>
              <a:t>任务规划、Skills、Channel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0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00" b="1">
                <a:solidFill>
                  <a:srgbClr val="0070C0"/>
                </a:solidFill>
                <a:latin typeface="Microsoft YaHei"/>
                <a:ea typeface="Microsoft YaHei"/>
              </a:rPr>
              <a:t>Agent Framework / Agent System Service：</a:t>
            </a:r>
            <a:r>
              <a:rPr sz="1000" b="0">
                <a:solidFill>
                  <a:srgbClr val="2B2B2B"/>
                </a:solidFill>
                <a:latin typeface="Microsoft YaHei"/>
                <a:ea typeface="Microsoft YaHei"/>
              </a:rPr>
              <a:t>多 Agent 协同、安全沙箱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0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00" b="1">
                <a:solidFill>
                  <a:srgbClr val="0070C0"/>
                </a:solidFill>
                <a:latin typeface="Microsoft YaHei"/>
                <a:ea typeface="Microsoft YaHei"/>
              </a:rPr>
              <a:t>华为云 MaaS：</a:t>
            </a:r>
            <a:r>
              <a:rPr sz="1000" b="0">
                <a:solidFill>
                  <a:srgbClr val="2B2B2B"/>
                </a:solidFill>
                <a:latin typeface="Microsoft YaHei"/>
                <a:ea typeface="Microsoft YaHei"/>
              </a:rPr>
              <a:t>glm-5.2 / openpangu-2.0-flash（OpenAI 兼容）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0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00" b="1">
                <a:solidFill>
                  <a:srgbClr val="0070C0"/>
                </a:solidFill>
                <a:latin typeface="Microsoft YaHei"/>
                <a:ea typeface="Microsoft YaHei"/>
              </a:rPr>
              <a:t>执行栈：</a:t>
            </a:r>
            <a:r>
              <a:rPr sz="1000" b="0">
                <a:solidFill>
                  <a:srgbClr val="2B2B2B"/>
                </a:solidFill>
                <a:latin typeface="Microsoft YaHei"/>
                <a:ea typeface="Microsoft YaHei"/>
              </a:rPr>
              <a:t>Python 3.11 + pytest + Git；v0.2 复用 Streamlit 看板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0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00" b="1">
                <a:solidFill>
                  <a:srgbClr val="0070C0"/>
                </a:solidFill>
                <a:latin typeface="Microsoft YaHei"/>
                <a:ea typeface="Microsoft YaHei"/>
              </a:rPr>
              <a:t>合规：</a:t>
            </a:r>
            <a:r>
              <a:rPr sz="1000" b="0">
                <a:solidFill>
                  <a:srgbClr val="2B2B2B"/>
                </a:solidFill>
                <a:latin typeface="Microsoft YaHei"/>
                <a:ea typeface="Microsoft YaHei"/>
              </a:rPr>
              <a:t>仅官方 API / 本地部署；演示数据脱敏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0000" y="3726000"/>
            <a:ext cx="5472000" cy="28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</a:pPr>
            <a:r>
              <a:rPr sz="1800" b="1">
                <a:solidFill>
                  <a:srgbClr val="2B2B2B"/>
                </a:solidFill>
                <a:latin typeface="Microsoft YaHei"/>
                <a:ea typeface="Microsoft YaHei"/>
              </a:rPr>
              <a:t>打磨验证 / 预期 Demo 形式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76000" y="4104000"/>
            <a:ext cx="5508000" cy="190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0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00" b="1">
                <a:solidFill>
                  <a:srgbClr val="0070C0"/>
                </a:solidFill>
                <a:latin typeface="Microsoft YaHei"/>
                <a:ea typeface="Microsoft YaHei"/>
              </a:rPr>
              <a:t>预期 Demo：</a:t>
            </a:r>
            <a:r>
              <a:rPr sz="1000" b="0">
                <a:solidFill>
                  <a:srgbClr val="2B2B2B"/>
                </a:solidFill>
                <a:latin typeface="Microsoft YaHei"/>
                <a:ea typeface="Microsoft YaHei"/>
              </a:rPr>
              <a:t>CLI 最小闭环 + 一页对比看板（测试红绿/证据/费用）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0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00" b="1">
                <a:solidFill>
                  <a:srgbClr val="0070C0"/>
                </a:solidFill>
                <a:latin typeface="Microsoft YaHei"/>
                <a:ea typeface="Microsoft YaHei"/>
              </a:rPr>
              <a:t>11-10 前：</a:t>
            </a:r>
            <a:r>
              <a:rPr sz="1000" b="0">
                <a:solidFill>
                  <a:srgbClr val="2B2B2B"/>
                </a:solidFill>
                <a:latin typeface="Microsoft YaHei"/>
                <a:ea typeface="Microsoft YaHei"/>
              </a:rPr>
              <a:t>60 秒真实运行录屏，用于创意 PPT“项目运行”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0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00" b="1">
                <a:solidFill>
                  <a:srgbClr val="0070C0"/>
                </a:solidFill>
                <a:latin typeface="Microsoft YaHei"/>
                <a:ea typeface="Microsoft YaHei"/>
              </a:rPr>
              <a:t>12 月：</a:t>
            </a:r>
            <a:r>
              <a:rPr sz="1000" b="0">
                <a:solidFill>
                  <a:srgbClr val="2B2B2B"/>
                </a:solidFill>
                <a:latin typeface="Microsoft YaHei"/>
                <a:ea typeface="Microsoft YaHei"/>
              </a:rPr>
              <a:t>3 分钟视频 + 现场演示；固定任务集 A/B 对照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0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00" b="1">
                <a:solidFill>
                  <a:srgbClr val="0070C0"/>
                </a:solidFill>
                <a:latin typeface="Microsoft YaHei"/>
                <a:ea typeface="Microsoft YaHei"/>
              </a:rPr>
              <a:t>资源：</a:t>
            </a:r>
            <a:r>
              <a:rPr sz="1000" b="0">
                <a:solidFill>
                  <a:srgbClr val="2B2B2B"/>
                </a:solidFill>
                <a:latin typeface="Microsoft YaHei"/>
                <a:ea typeface="Microsoft YaHei"/>
              </a:rPr>
              <a:t>3 个模型 API、1 台开发机、Docker 沙箱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0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00" b="1">
                <a:solidFill>
                  <a:srgbClr val="0070C0"/>
                </a:solidFill>
                <a:latin typeface="Microsoft YaHei"/>
                <a:ea typeface="Microsoft YaHei"/>
              </a:rPr>
              <a:t>兜底：</a:t>
            </a:r>
            <a:r>
              <a:rPr sz="1000" b="0">
                <a:solidFill>
                  <a:srgbClr val="2B2B2B"/>
                </a:solidFill>
                <a:latin typeface="Microsoft YaHei"/>
                <a:ea typeface="Microsoft YaHei"/>
              </a:rPr>
              <a:t>缓存回放 / 本地模型 / 录屏，保证现场不翻车</a:t>
            </a:r>
          </a:p>
        </p:txBody>
      </p:sp>
    </p:spTree>
    <p:extLst>
      <p:ext uri="{BB962C8B-B14F-4D97-AF65-F5344CB8AC3E}">
        <p14:creationId xmlns:p14="http://schemas.microsoft.com/office/powerpoint/2010/main" val="2259918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:a16="http://schemas.microsoft.com/office/drawing/2014/main" id="{01348236-2F22-4551-9242-B378DB13C9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wrap="square" anchor="t" lIns="0" rIns="0" tIns="0" bIns="0">
            <a:noAutofit/>
          </a:bodyPr>
          <a:lstStyle/>
          <a:p>
            <a:r>
              <a:rPr sz="2600" b="1">
                <a:solidFill>
                  <a:srgbClr val="C00000"/>
                </a:solidFill>
                <a:latin typeface="Microsoft YaHei"/>
                <a:ea typeface="Microsoft YaHei"/>
              </a:rPr>
              <a:t>DEMO 与关键用户路径（Demo v0.1 规划）</a:t>
            </a:r>
          </a:p>
        </p:txBody>
      </p:sp>
      <p:pic>
        <p:nvPicPr>
          <p:cNvPr id="3" name="Picture 2" descr="demo_overview_v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00" y="846000"/>
            <a:ext cx="6696000" cy="4315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4000" y="5346000"/>
            <a:ext cx="6696000" cy="36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</a:rPr>
              <a:t>示意图：Demo v0.1 规划；图中红绿与分数为预期演示剧情，实测后替换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000" y="5724000"/>
            <a:ext cx="11304000" cy="86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  <a:spcAft>
                <a:spcPts val="400"/>
              </a:spcAft>
            </a:pPr>
            <a:r>
              <a:rPr sz="1100" b="1">
                <a:solidFill>
                  <a:srgbClr val="1F3864"/>
                </a:solidFill>
                <a:latin typeface="Microsoft YaHei"/>
                <a:ea typeface="Microsoft YaHei"/>
              </a:rPr>
              <a:t>Demo v0.1 交付物：</a:t>
            </a:r>
            <a:r>
              <a:rPr sz="1100" b="0">
                <a:solidFill>
                  <a:srgbClr val="2B2B2B"/>
                </a:solidFill>
                <a:latin typeface="Microsoft YaHei"/>
                <a:ea typeface="Microsoft YaHei"/>
              </a:rPr>
              <a:t>CLI 命令 · evidence.json · decision.md · 60 秒真实录屏 · 离线回放包</a:t>
            </a:r>
          </a:p>
          <a:p>
            <a:pPr>
              <a:lnSpc>
                <a:spcPct val="128000"/>
              </a:lnSpc>
              <a:spcAft>
                <a:spcPts val="400"/>
              </a:spcAft>
            </a:pPr>
            <a:r>
              <a:rPr sz="1050" b="1">
                <a:solidFill>
                  <a:srgbClr val="1F3864"/>
                </a:solidFill>
                <a:latin typeface="Microsoft YaHei"/>
                <a:ea typeface="Microsoft YaHei"/>
              </a:rPr>
              <a:t>数据规则：</a:t>
            </a:r>
            <a:r>
              <a:rPr sz="1050" b="0">
                <a:solidFill>
                  <a:srgbClr val="2B2B2B"/>
                </a:solidFill>
                <a:latin typeface="Microsoft YaHei"/>
                <a:ea typeface="Microsoft YaHei"/>
              </a:rPr>
              <a:t>所有红绿/分数/费用以真实执行日志为准；未实测内容一律标注“待实测”，不写进结论。</a:t>
            </a:r>
          </a:p>
          <a:p>
            <a:pPr>
              <a:lnSpc>
                <a:spcPct val="128000"/>
              </a:lnSpc>
              <a:spcAft>
                <a:spcPts val="0"/>
              </a:spcAft>
            </a:pPr>
            <a:r>
              <a:rPr sz="1050" b="1">
                <a:solidFill>
                  <a:srgbClr val="1F3864"/>
                </a:solidFill>
                <a:latin typeface="Microsoft YaHei"/>
                <a:ea typeface="Microsoft YaHei"/>
              </a:rPr>
              <a:t>代码仓库：</a:t>
            </a:r>
            <a:r>
              <a:rPr sz="1050" b="0">
                <a:solidFill>
                  <a:srgbClr val="0070C0"/>
                </a:solidFill>
                <a:latin typeface="Microsoft YaHei"/>
                <a:ea typeface="Microsoft YaHei"/>
              </a:rPr>
              <a:t>https://github.com/dissill/LLM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6000" y="864000"/>
            <a:ext cx="4608000" cy="514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  <a:spcAft>
                <a:spcPts val="800"/>
              </a:spcAft>
            </a:pPr>
            <a:r>
              <a:rPr sz="1800" b="1">
                <a:solidFill>
                  <a:srgbClr val="C00000"/>
                </a:solidFill>
                <a:latin typeface="Microsoft YaHei"/>
                <a:ea typeface="Microsoft YaHei"/>
              </a:rPr>
              <a:t>关键用户路径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10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100" b="1">
                <a:solidFill>
                  <a:srgbClr val="0070C0"/>
                </a:solidFill>
                <a:latin typeface="Microsoft YaHei"/>
                <a:ea typeface="Microsoft YaHei"/>
              </a:rPr>
              <a:t>① 触发：</a:t>
            </a:r>
            <a:r>
              <a:rPr sz="1100" b="0">
                <a:solidFill>
                  <a:srgbClr val="2B2B2B"/>
                </a:solidFill>
                <a:latin typeface="Microsoft YaHei"/>
                <a:ea typeface="Microsoft YaHei"/>
              </a:rPr>
              <a:t>CLI 或网页输入一句话需求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10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100" b="1">
                <a:solidFill>
                  <a:srgbClr val="0070C0"/>
                </a:solidFill>
                <a:latin typeface="Microsoft YaHei"/>
                <a:ea typeface="Microsoft YaHei"/>
              </a:rPr>
              <a:t>② 输入：</a:t>
            </a:r>
            <a:r>
              <a:rPr sz="1100" b="0">
                <a:solidFill>
                  <a:srgbClr val="2B2B2B"/>
                </a:solidFill>
                <a:latin typeface="Microsoft YaHei"/>
                <a:ea typeface="Microsoft YaHei"/>
              </a:rPr>
              <a:t>关键词 + 可选仓库/约束/目标模型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10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100" b="1">
                <a:solidFill>
                  <a:srgbClr val="0070C0"/>
                </a:solidFill>
                <a:latin typeface="Microsoft YaHei"/>
                <a:ea typeface="Microsoft YaHei"/>
              </a:rPr>
              <a:t>③ 回显：</a:t>
            </a:r>
            <a:r>
              <a:rPr sz="1100" b="0">
                <a:solidFill>
                  <a:srgbClr val="2B2B2B"/>
                </a:solidFill>
                <a:latin typeface="Microsoft YaHei"/>
                <a:ea typeface="Microsoft YaHei"/>
              </a:rPr>
              <a:t>SRD + 6 条验收标准，用户确认或修改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10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100" b="1">
                <a:solidFill>
                  <a:srgbClr val="0070C0"/>
                </a:solidFill>
                <a:latin typeface="Microsoft YaHei"/>
                <a:ea typeface="Microsoft YaHei"/>
              </a:rPr>
              <a:t>④ 执行：</a:t>
            </a:r>
            <a:r>
              <a:rPr sz="1100" b="0">
                <a:solidFill>
                  <a:srgbClr val="2B2B2B"/>
                </a:solidFill>
                <a:latin typeface="Microsoft YaHei"/>
                <a:ea typeface="Microsoft YaHei"/>
              </a:rPr>
              <a:t>2 候选并行生成 + 沙箱真跑 pytest/lint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10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100" b="1">
                <a:solidFill>
                  <a:srgbClr val="0070C0"/>
                </a:solidFill>
                <a:latin typeface="Microsoft YaHei"/>
                <a:ea typeface="Microsoft YaHei"/>
              </a:rPr>
              <a:t>⑤ 结果：</a:t>
            </a:r>
            <a:r>
              <a:rPr sz="1100" b="0">
                <a:solidFill>
                  <a:srgbClr val="2B2B2B"/>
                </a:solidFill>
                <a:latin typeface="Microsoft YaHei"/>
                <a:ea typeface="Microsoft YaHei"/>
              </a:rPr>
              <a:t>证据看板：红绿、失败用例、耗时、token 费用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10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100" b="1">
                <a:solidFill>
                  <a:srgbClr val="0070C0"/>
                </a:solidFill>
                <a:latin typeface="Microsoft YaHei"/>
                <a:ea typeface="Microsoft YaHei"/>
              </a:rPr>
              <a:t>⑥ 决策：</a:t>
            </a:r>
            <a:r>
              <a:rPr sz="1100" b="0">
                <a:solidFill>
                  <a:srgbClr val="2B2B2B"/>
                </a:solidFill>
                <a:latin typeface="Microsoft YaHei"/>
                <a:ea typeface="Microsoft YaHei"/>
              </a:rPr>
              <a:t>推荐 + 证据链 + 次优备选 + 成本账单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10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100" b="1">
                <a:solidFill>
                  <a:srgbClr val="0070C0"/>
                </a:solidFill>
                <a:latin typeface="Microsoft YaHei"/>
                <a:ea typeface="Microsoft YaHei"/>
              </a:rPr>
              <a:t>⑦ 回放：</a:t>
            </a:r>
            <a:r>
              <a:rPr sz="1100" b="0">
                <a:solidFill>
                  <a:srgbClr val="2B2B2B"/>
                </a:solidFill>
                <a:latin typeface="Microsoft YaHei"/>
                <a:ea typeface="Microsoft YaHei"/>
              </a:rPr>
              <a:t>证据包与 Prompt DAG 可复现、可审计</a:t>
            </a:r>
          </a:p>
          <a:p>
            <a:pPr>
              <a:lnSpc>
                <a:spcPct val="128000"/>
              </a:lnSpc>
              <a:spcAft>
                <a:spcPts val="0"/>
              </a:spcAft>
            </a:pPr>
            <a:r>
              <a:rPr sz="600" b="0">
                <a:solidFill>
                  <a:srgbClr val="2B2B2B"/>
                </a:solidFill>
                <a:latin typeface="Microsoft YaHei"/>
                <a:ea typeface="Microsoft YaHei"/>
              </a:rPr>
              <a:t/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5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50" b="1">
                <a:solidFill>
                  <a:srgbClr val="0070C0"/>
                </a:solidFill>
                <a:latin typeface="Microsoft YaHei"/>
                <a:ea typeface="Microsoft YaHei"/>
              </a:rPr>
              <a:t>Demo 形态：</a:t>
            </a:r>
            <a:r>
              <a:rPr sz="1050" b="0">
                <a:solidFill>
                  <a:srgbClr val="2B2B2B"/>
                </a:solidFill>
                <a:latin typeface="Microsoft YaHei"/>
                <a:ea typeface="Microsoft YaHei"/>
              </a:rPr>
              <a:t>v0.1 命令行；v0.2 加 Streamlit 对比看板</a:t>
            </a:r>
          </a:p>
        </p:txBody>
      </p:sp>
    </p:spTree>
    <p:extLst>
      <p:ext uri="{BB962C8B-B14F-4D97-AF65-F5344CB8AC3E}">
        <p14:creationId xmlns:p14="http://schemas.microsoft.com/office/powerpoint/2010/main" val="1462796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>
            <a:extLst>
              <a:ext uri="{FF2B5EF4-FFF2-40B4-BE49-F238E27FC236}">
                <a16:creationId xmlns:a16="http://schemas.microsoft.com/office/drawing/2014/main" id="{394ABE4E-FA56-938F-7201-06F20173CC05}"/>
              </a:ext>
            </a:extLst>
          </p:cNvPr>
          <p:cNvSpPr/>
          <p:nvPr/>
        </p:nvSpPr>
        <p:spPr>
          <a:xfrm>
            <a:off x="127000" y="191919"/>
            <a:ext cx="12069763" cy="43601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 defTabSz="1187323">
              <a:lnSpc>
                <a:spcPts val="3429"/>
              </a:lnSpc>
            </a:pPr>
            <a:r>
              <a:rPr lang="zh-CN" altLang="en-US" sz="32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附：赛题方向详细参考</a:t>
            </a:r>
            <a:endParaRPr lang="en-US" sz="32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B36D495-78C3-E144-8420-FA3F31DF57CC}"/>
              </a:ext>
            </a:extLst>
          </p:cNvPr>
          <p:cNvSpPr txBox="1"/>
          <p:nvPr/>
        </p:nvSpPr>
        <p:spPr>
          <a:xfrm>
            <a:off x="194489" y="3552176"/>
            <a:ext cx="11731564" cy="276999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solidFill>
                  <a:schemeClr val="bg1"/>
                </a:solidFill>
              </a:rPr>
              <a:t>*</a:t>
            </a:r>
            <a:r>
              <a:rPr lang="zh-CN" altLang="en-US" sz="1200" b="1" dirty="0">
                <a:solidFill>
                  <a:schemeClr val="bg1"/>
                </a:solidFill>
              </a:rPr>
              <a:t>示意方向仅做场景参考，不限定大家的想象力</a:t>
            </a: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0AFAF3FC-E9A1-FD4A-4B70-B2836CFB081F}"/>
              </a:ext>
            </a:extLst>
          </p:cNvPr>
          <p:cNvSpPr/>
          <p:nvPr/>
        </p:nvSpPr>
        <p:spPr>
          <a:xfrm>
            <a:off x="214312" y="1041654"/>
            <a:ext cx="11247120" cy="10973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F28B795F-04AB-1D21-D2D1-B920742C2F8D}"/>
              </a:ext>
            </a:extLst>
          </p:cNvPr>
          <p:cNvSpPr/>
          <p:nvPr/>
        </p:nvSpPr>
        <p:spPr>
          <a:xfrm>
            <a:off x="214312" y="1169670"/>
            <a:ext cx="36576" cy="502920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9EC19D71-917D-25B6-2CA3-DA4AF745AECF}"/>
              </a:ext>
            </a:extLst>
          </p:cNvPr>
          <p:cNvSpPr/>
          <p:nvPr/>
        </p:nvSpPr>
        <p:spPr>
          <a:xfrm>
            <a:off x="378904" y="112395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8B1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200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1ACB0CE2-0339-A7BC-C8B8-A5086F21C944}"/>
              </a:ext>
            </a:extLst>
          </p:cNvPr>
          <p:cNvSpPr/>
          <p:nvPr/>
        </p:nvSpPr>
        <p:spPr>
          <a:xfrm>
            <a:off x="378904" y="1672590"/>
            <a:ext cx="220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办公赛道</a:t>
            </a:r>
            <a:endParaRPr lang="en-US" sz="2200" dirty="0"/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6DCD2892-1C0F-108C-7A9A-E1C1A19A8A4E}"/>
              </a:ext>
            </a:extLst>
          </p:cNvPr>
          <p:cNvSpPr/>
          <p:nvPr/>
        </p:nvSpPr>
        <p:spPr>
          <a:xfrm>
            <a:off x="378904" y="2175510"/>
            <a:ext cx="2100000" cy="10973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105157B4-F232-AA03-ADDC-8BA304B95A4F}"/>
              </a:ext>
            </a:extLst>
          </p:cNvPr>
          <p:cNvSpPr/>
          <p:nvPr/>
        </p:nvSpPr>
        <p:spPr>
          <a:xfrm>
            <a:off x="378904" y="2266950"/>
            <a:ext cx="21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8B1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 心 价 值</a:t>
            </a:r>
            <a:endParaRPr lang="en-US" sz="1000" dirty="0"/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5E9CA185-9276-726D-E1E4-66DCE176F0E1}"/>
              </a:ext>
            </a:extLst>
          </p:cNvPr>
          <p:cNvSpPr/>
          <p:nvPr/>
        </p:nvSpPr>
        <p:spPr>
          <a:xfrm>
            <a:off x="378904" y="2541270"/>
            <a:ext cx="2200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让智能体成为你的办公助手。围绕会议纪要、文档处理、流程自动化、数据报表、知识管理等场景，打造高效、精准、可靠的生产力工具</a:t>
            </a:r>
            <a:endParaRPr lang="en-US" sz="1050" dirty="0"/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C0E6ABFC-45E4-2EAC-317C-F19A42AFA16A}"/>
              </a:ext>
            </a:extLst>
          </p:cNvPr>
          <p:cNvSpPr/>
          <p:nvPr/>
        </p:nvSpPr>
        <p:spPr>
          <a:xfrm>
            <a:off x="322506" y="4012799"/>
            <a:ext cx="21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000" b="1" kern="0" spc="600" dirty="0">
                <a:solidFill>
                  <a:srgbClr val="8B1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示 意 方 向</a:t>
            </a:r>
            <a:endParaRPr lang="en-US" sz="1000" dirty="0"/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A959B297-AAFD-75C3-D1EA-97AC9190A41A}"/>
              </a:ext>
            </a:extLst>
          </p:cNvPr>
          <p:cNvSpPr/>
          <p:nvPr/>
        </p:nvSpPr>
        <p:spPr>
          <a:xfrm>
            <a:off x="322506" y="4441377"/>
            <a:ext cx="54864" cy="54864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14" name="Text 14">
            <a:extLst>
              <a:ext uri="{FF2B5EF4-FFF2-40B4-BE49-F238E27FC236}">
                <a16:creationId xmlns:a16="http://schemas.microsoft.com/office/drawing/2014/main" id="{1E1082CB-04AA-7479-5937-7C62C22A5EDC}"/>
              </a:ext>
            </a:extLst>
          </p:cNvPr>
          <p:cNvSpPr/>
          <p:nvPr/>
        </p:nvSpPr>
        <p:spPr>
          <a:xfrm>
            <a:off x="450522" y="4377369"/>
            <a:ext cx="200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会议纪要  ·  自动记录、提炼、分发会议要点</a:t>
            </a:r>
            <a:endParaRPr lang="en-US" sz="1000" dirty="0"/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6B4BBFB8-1E5E-B193-BD95-46B411E3C73E}"/>
              </a:ext>
            </a:extLst>
          </p:cNvPr>
          <p:cNvSpPr/>
          <p:nvPr/>
        </p:nvSpPr>
        <p:spPr>
          <a:xfrm>
            <a:off x="322506" y="4770561"/>
            <a:ext cx="54864" cy="54864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16" name="Text 16">
            <a:extLst>
              <a:ext uri="{FF2B5EF4-FFF2-40B4-BE49-F238E27FC236}">
                <a16:creationId xmlns:a16="http://schemas.microsoft.com/office/drawing/2014/main" id="{3F17EE76-E71F-2D9D-E32B-968574E9DB2F}"/>
              </a:ext>
            </a:extLst>
          </p:cNvPr>
          <p:cNvSpPr/>
          <p:nvPr/>
        </p:nvSpPr>
        <p:spPr>
          <a:xfrm>
            <a:off x="450522" y="4706553"/>
            <a:ext cx="200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文档处理  ·  智能起草、审阅、格式化文档</a:t>
            </a:r>
            <a:endParaRPr lang="en-US" sz="1000" dirty="0"/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CBB46B57-6AFB-47BD-DC62-82A5500F6A9D}"/>
              </a:ext>
            </a:extLst>
          </p:cNvPr>
          <p:cNvSpPr/>
          <p:nvPr/>
        </p:nvSpPr>
        <p:spPr>
          <a:xfrm>
            <a:off x="322506" y="5110829"/>
            <a:ext cx="54864" cy="54864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18" name="Text 18">
            <a:extLst>
              <a:ext uri="{FF2B5EF4-FFF2-40B4-BE49-F238E27FC236}">
                <a16:creationId xmlns:a16="http://schemas.microsoft.com/office/drawing/2014/main" id="{857C14CB-7094-D8A1-D8F7-7B9482F38CE8}"/>
              </a:ext>
            </a:extLst>
          </p:cNvPr>
          <p:cNvSpPr/>
          <p:nvPr/>
        </p:nvSpPr>
        <p:spPr>
          <a:xfrm>
            <a:off x="450522" y="5046821"/>
            <a:ext cx="200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流程自动化  ·  审批、归档、通知自动执行</a:t>
            </a:r>
            <a:endParaRPr lang="en-US" sz="1000" dirty="0"/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046A6A79-B67B-01D6-2082-CD1F6C560967}"/>
              </a:ext>
            </a:extLst>
          </p:cNvPr>
          <p:cNvSpPr/>
          <p:nvPr/>
        </p:nvSpPr>
        <p:spPr>
          <a:xfrm>
            <a:off x="322506" y="5717295"/>
            <a:ext cx="54864" cy="54864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20" name="Text 20">
            <a:extLst>
              <a:ext uri="{FF2B5EF4-FFF2-40B4-BE49-F238E27FC236}">
                <a16:creationId xmlns:a16="http://schemas.microsoft.com/office/drawing/2014/main" id="{BFD42EED-69BA-B77A-4628-158C79B8F73E}"/>
              </a:ext>
            </a:extLst>
          </p:cNvPr>
          <p:cNvSpPr/>
          <p:nvPr/>
        </p:nvSpPr>
        <p:spPr>
          <a:xfrm>
            <a:off x="450522" y="5653287"/>
            <a:ext cx="200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数据报表  ·  采集、分析、生成可视化报表</a:t>
            </a:r>
            <a:endParaRPr lang="en-US" sz="1000" dirty="0"/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7DC69E5D-E71C-367A-D0A8-3220CDF5444F}"/>
              </a:ext>
            </a:extLst>
          </p:cNvPr>
          <p:cNvSpPr/>
          <p:nvPr/>
        </p:nvSpPr>
        <p:spPr>
          <a:xfrm>
            <a:off x="322506" y="6046479"/>
            <a:ext cx="54864" cy="54864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22" name="Text 22">
            <a:extLst>
              <a:ext uri="{FF2B5EF4-FFF2-40B4-BE49-F238E27FC236}">
                <a16:creationId xmlns:a16="http://schemas.microsoft.com/office/drawing/2014/main" id="{42F65987-270B-20DC-0A6C-2CDD7D72E89C}"/>
              </a:ext>
            </a:extLst>
          </p:cNvPr>
          <p:cNvSpPr/>
          <p:nvPr/>
        </p:nvSpPr>
        <p:spPr>
          <a:xfrm>
            <a:off x="450522" y="5982471"/>
            <a:ext cx="200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知识管理  ·  企业知识库构建与智能检索</a:t>
            </a:r>
            <a:endParaRPr lang="en-US" sz="1000" dirty="0"/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78276BAD-5054-538A-0B7E-D7BA96C4DEEC}"/>
              </a:ext>
            </a:extLst>
          </p:cNvPr>
          <p:cNvSpPr/>
          <p:nvPr/>
        </p:nvSpPr>
        <p:spPr>
          <a:xfrm>
            <a:off x="322506" y="5428426"/>
            <a:ext cx="54864" cy="54864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24" name="Text 24">
            <a:extLst>
              <a:ext uri="{FF2B5EF4-FFF2-40B4-BE49-F238E27FC236}">
                <a16:creationId xmlns:a16="http://schemas.microsoft.com/office/drawing/2014/main" id="{84BDB1C5-0149-4849-2910-713FE7EB3DE1}"/>
              </a:ext>
            </a:extLst>
          </p:cNvPr>
          <p:cNvSpPr/>
          <p:nvPr/>
        </p:nvSpPr>
        <p:spPr>
          <a:xfrm>
            <a:off x="450522" y="5364418"/>
            <a:ext cx="200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协同办公  ·  多人协作、任务分配、进度跟踪</a:t>
            </a:r>
            <a:endParaRPr lang="en-US" sz="1000" dirty="0"/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931E3453-D82A-281D-A19E-0076BBFABCC3}"/>
              </a:ext>
            </a:extLst>
          </p:cNvPr>
          <p:cNvSpPr/>
          <p:nvPr/>
        </p:nvSpPr>
        <p:spPr>
          <a:xfrm>
            <a:off x="2744152" y="1169670"/>
            <a:ext cx="36576" cy="502920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26" name="Text 26">
            <a:extLst>
              <a:ext uri="{FF2B5EF4-FFF2-40B4-BE49-F238E27FC236}">
                <a16:creationId xmlns:a16="http://schemas.microsoft.com/office/drawing/2014/main" id="{E16F531E-09B5-5ED5-9ED0-173C3A68CBBF}"/>
              </a:ext>
            </a:extLst>
          </p:cNvPr>
          <p:cNvSpPr/>
          <p:nvPr/>
        </p:nvSpPr>
        <p:spPr>
          <a:xfrm>
            <a:off x="2908744" y="112395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8B1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200" dirty="0"/>
          </a:p>
        </p:txBody>
      </p:sp>
      <p:sp>
        <p:nvSpPr>
          <p:cNvPr id="27" name="Text 28">
            <a:extLst>
              <a:ext uri="{FF2B5EF4-FFF2-40B4-BE49-F238E27FC236}">
                <a16:creationId xmlns:a16="http://schemas.microsoft.com/office/drawing/2014/main" id="{B9BAACC0-0449-1B4D-65AA-DB966E1E1FBD}"/>
              </a:ext>
            </a:extLst>
          </p:cNvPr>
          <p:cNvSpPr/>
          <p:nvPr/>
        </p:nvSpPr>
        <p:spPr>
          <a:xfrm>
            <a:off x="2908744" y="1672590"/>
            <a:ext cx="220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Coding赛道</a:t>
            </a:r>
            <a:endParaRPr lang="en-US" sz="2200" dirty="0"/>
          </a:p>
        </p:txBody>
      </p:sp>
      <p:sp>
        <p:nvSpPr>
          <p:cNvPr id="28" name="Shape 29">
            <a:extLst>
              <a:ext uri="{FF2B5EF4-FFF2-40B4-BE49-F238E27FC236}">
                <a16:creationId xmlns:a16="http://schemas.microsoft.com/office/drawing/2014/main" id="{F1D3FF21-C298-5005-C5BC-C9B331FFB5C9}"/>
              </a:ext>
            </a:extLst>
          </p:cNvPr>
          <p:cNvSpPr/>
          <p:nvPr/>
        </p:nvSpPr>
        <p:spPr>
          <a:xfrm>
            <a:off x="2908744" y="2175510"/>
            <a:ext cx="2100000" cy="10973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9" name="Text 30">
            <a:extLst>
              <a:ext uri="{FF2B5EF4-FFF2-40B4-BE49-F238E27FC236}">
                <a16:creationId xmlns:a16="http://schemas.microsoft.com/office/drawing/2014/main" id="{14E09982-23C2-3AD4-5538-48F6A97B5ADB}"/>
              </a:ext>
            </a:extLst>
          </p:cNvPr>
          <p:cNvSpPr/>
          <p:nvPr/>
        </p:nvSpPr>
        <p:spPr>
          <a:xfrm>
            <a:off x="2908744" y="2266950"/>
            <a:ext cx="21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8B1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 心 价 值</a:t>
            </a:r>
            <a:endParaRPr lang="en-US" sz="1000" dirty="0"/>
          </a:p>
        </p:txBody>
      </p:sp>
      <p:sp>
        <p:nvSpPr>
          <p:cNvPr id="30" name="Text 31">
            <a:extLst>
              <a:ext uri="{FF2B5EF4-FFF2-40B4-BE49-F238E27FC236}">
                <a16:creationId xmlns:a16="http://schemas.microsoft.com/office/drawing/2014/main" id="{6BA4984D-2D0F-C071-3B7E-1144BE1D7451}"/>
              </a:ext>
            </a:extLst>
          </p:cNvPr>
          <p:cNvSpPr/>
          <p:nvPr/>
        </p:nvSpPr>
        <p:spPr>
          <a:xfrm>
            <a:off x="2908744" y="2541270"/>
            <a:ext cx="2200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05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让智能体成为你的开发搭档。覆盖代码生成、审查、Bug修复、自动化测试、项目脚手架等全研发链路，提升开发效率与代码质量</a:t>
            </a:r>
            <a:endParaRPr lang="en-US" sz="1050" dirty="0"/>
          </a:p>
        </p:txBody>
      </p:sp>
      <p:sp>
        <p:nvSpPr>
          <p:cNvPr id="31" name="Shape 33">
            <a:extLst>
              <a:ext uri="{FF2B5EF4-FFF2-40B4-BE49-F238E27FC236}">
                <a16:creationId xmlns:a16="http://schemas.microsoft.com/office/drawing/2014/main" id="{0C372FCA-B86F-5B36-1C73-81BBD9471F5D}"/>
              </a:ext>
            </a:extLst>
          </p:cNvPr>
          <p:cNvSpPr/>
          <p:nvPr/>
        </p:nvSpPr>
        <p:spPr>
          <a:xfrm>
            <a:off x="2852346" y="4441377"/>
            <a:ext cx="54864" cy="54864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32" name="Text 34">
            <a:extLst>
              <a:ext uri="{FF2B5EF4-FFF2-40B4-BE49-F238E27FC236}">
                <a16:creationId xmlns:a16="http://schemas.microsoft.com/office/drawing/2014/main" id="{61220233-5F54-C563-7F47-9B9255926E28}"/>
              </a:ext>
            </a:extLst>
          </p:cNvPr>
          <p:cNvSpPr/>
          <p:nvPr/>
        </p:nvSpPr>
        <p:spPr>
          <a:xfrm>
            <a:off x="2980362" y="4377369"/>
            <a:ext cx="200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代码生成  ·  根据需求自动生成代码片段</a:t>
            </a:r>
            <a:endParaRPr lang="en-US" sz="1000" dirty="0"/>
          </a:p>
        </p:txBody>
      </p:sp>
      <p:sp>
        <p:nvSpPr>
          <p:cNvPr id="33" name="Shape 35">
            <a:extLst>
              <a:ext uri="{FF2B5EF4-FFF2-40B4-BE49-F238E27FC236}">
                <a16:creationId xmlns:a16="http://schemas.microsoft.com/office/drawing/2014/main" id="{3ED0E3B4-0D7E-8AE8-772A-BCEB964205FB}"/>
              </a:ext>
            </a:extLst>
          </p:cNvPr>
          <p:cNvSpPr/>
          <p:nvPr/>
        </p:nvSpPr>
        <p:spPr>
          <a:xfrm>
            <a:off x="2852346" y="4770561"/>
            <a:ext cx="54864" cy="54864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34" name="Text 36">
            <a:extLst>
              <a:ext uri="{FF2B5EF4-FFF2-40B4-BE49-F238E27FC236}">
                <a16:creationId xmlns:a16="http://schemas.microsoft.com/office/drawing/2014/main" id="{602A63BE-E58B-76A3-004F-929816CDEC43}"/>
              </a:ext>
            </a:extLst>
          </p:cNvPr>
          <p:cNvSpPr/>
          <p:nvPr/>
        </p:nvSpPr>
        <p:spPr>
          <a:xfrm>
            <a:off x="2980362" y="4706553"/>
            <a:ext cx="200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代码审查  ·  自动PR审查，识别潜在问题</a:t>
            </a:r>
            <a:endParaRPr lang="en-US" sz="1000" dirty="0"/>
          </a:p>
        </p:txBody>
      </p:sp>
      <p:sp>
        <p:nvSpPr>
          <p:cNvPr id="35" name="Shape 37">
            <a:extLst>
              <a:ext uri="{FF2B5EF4-FFF2-40B4-BE49-F238E27FC236}">
                <a16:creationId xmlns:a16="http://schemas.microsoft.com/office/drawing/2014/main" id="{92EA6273-3DDF-DEA6-225F-8B4597856A8A}"/>
              </a:ext>
            </a:extLst>
          </p:cNvPr>
          <p:cNvSpPr/>
          <p:nvPr/>
        </p:nvSpPr>
        <p:spPr>
          <a:xfrm>
            <a:off x="2852346" y="5099745"/>
            <a:ext cx="54864" cy="54864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36" name="Text 38">
            <a:extLst>
              <a:ext uri="{FF2B5EF4-FFF2-40B4-BE49-F238E27FC236}">
                <a16:creationId xmlns:a16="http://schemas.microsoft.com/office/drawing/2014/main" id="{6FB0C60B-A2C5-F580-4871-7477E83E9027}"/>
              </a:ext>
            </a:extLst>
          </p:cNvPr>
          <p:cNvSpPr/>
          <p:nvPr/>
        </p:nvSpPr>
        <p:spPr>
          <a:xfrm>
            <a:off x="2980362" y="5035737"/>
            <a:ext cx="200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Bug修复  ·  定位根因并生成修复方案</a:t>
            </a:r>
            <a:endParaRPr lang="en-US" sz="1000" dirty="0"/>
          </a:p>
        </p:txBody>
      </p:sp>
      <p:sp>
        <p:nvSpPr>
          <p:cNvPr id="37" name="Shape 39">
            <a:extLst>
              <a:ext uri="{FF2B5EF4-FFF2-40B4-BE49-F238E27FC236}">
                <a16:creationId xmlns:a16="http://schemas.microsoft.com/office/drawing/2014/main" id="{1D5930E8-C7D6-7940-3F5D-87054358A898}"/>
              </a:ext>
            </a:extLst>
          </p:cNvPr>
          <p:cNvSpPr/>
          <p:nvPr/>
        </p:nvSpPr>
        <p:spPr>
          <a:xfrm>
            <a:off x="2852346" y="5428929"/>
            <a:ext cx="54864" cy="54864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38" name="Text 40">
            <a:extLst>
              <a:ext uri="{FF2B5EF4-FFF2-40B4-BE49-F238E27FC236}">
                <a16:creationId xmlns:a16="http://schemas.microsoft.com/office/drawing/2014/main" id="{0B6D7BBD-6022-9EFF-0540-40E197B85712}"/>
              </a:ext>
            </a:extLst>
          </p:cNvPr>
          <p:cNvSpPr/>
          <p:nvPr/>
        </p:nvSpPr>
        <p:spPr>
          <a:xfrm>
            <a:off x="2980362" y="5364921"/>
            <a:ext cx="200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自动化测试  ·  生成测试用例并执行验证</a:t>
            </a:r>
            <a:endParaRPr lang="en-US" sz="1000" dirty="0"/>
          </a:p>
        </p:txBody>
      </p:sp>
      <p:sp>
        <p:nvSpPr>
          <p:cNvPr id="39" name="Shape 41">
            <a:extLst>
              <a:ext uri="{FF2B5EF4-FFF2-40B4-BE49-F238E27FC236}">
                <a16:creationId xmlns:a16="http://schemas.microsoft.com/office/drawing/2014/main" id="{9522FB2F-B1F8-8D76-A9CF-F9A174B6823B}"/>
              </a:ext>
            </a:extLst>
          </p:cNvPr>
          <p:cNvSpPr/>
          <p:nvPr/>
        </p:nvSpPr>
        <p:spPr>
          <a:xfrm>
            <a:off x="2852346" y="5758113"/>
            <a:ext cx="54864" cy="54864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40" name="Text 42">
            <a:extLst>
              <a:ext uri="{FF2B5EF4-FFF2-40B4-BE49-F238E27FC236}">
                <a16:creationId xmlns:a16="http://schemas.microsoft.com/office/drawing/2014/main" id="{F012E2A3-ACF7-E0E5-B860-CD4D0F1050E2}"/>
              </a:ext>
            </a:extLst>
          </p:cNvPr>
          <p:cNvSpPr/>
          <p:nvPr/>
        </p:nvSpPr>
        <p:spPr>
          <a:xfrm>
            <a:off x="2980362" y="5694105"/>
            <a:ext cx="200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项目脚手架  ·  快速搭建项目结构与环境</a:t>
            </a:r>
            <a:endParaRPr lang="en-US" sz="1000" dirty="0"/>
          </a:p>
        </p:txBody>
      </p:sp>
      <p:sp>
        <p:nvSpPr>
          <p:cNvPr id="41" name="Shape 43">
            <a:extLst>
              <a:ext uri="{FF2B5EF4-FFF2-40B4-BE49-F238E27FC236}">
                <a16:creationId xmlns:a16="http://schemas.microsoft.com/office/drawing/2014/main" id="{E9620004-4BF1-DC6F-97F9-31EF94848DBA}"/>
              </a:ext>
            </a:extLst>
          </p:cNvPr>
          <p:cNvSpPr/>
          <p:nvPr/>
        </p:nvSpPr>
        <p:spPr>
          <a:xfrm>
            <a:off x="2852346" y="6087297"/>
            <a:ext cx="54864" cy="54864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42" name="Text 44">
            <a:extLst>
              <a:ext uri="{FF2B5EF4-FFF2-40B4-BE49-F238E27FC236}">
                <a16:creationId xmlns:a16="http://schemas.microsoft.com/office/drawing/2014/main" id="{25F44FE3-DB6D-41A2-F760-3773B9388940}"/>
              </a:ext>
            </a:extLst>
          </p:cNvPr>
          <p:cNvSpPr/>
          <p:nvPr/>
        </p:nvSpPr>
        <p:spPr>
          <a:xfrm>
            <a:off x="2980362" y="6023289"/>
            <a:ext cx="200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代码重构  ·  智能优化代码结构与性能</a:t>
            </a:r>
            <a:endParaRPr lang="en-US" sz="1000" dirty="0"/>
          </a:p>
        </p:txBody>
      </p:sp>
      <p:sp>
        <p:nvSpPr>
          <p:cNvPr id="43" name="Shape 45">
            <a:extLst>
              <a:ext uri="{FF2B5EF4-FFF2-40B4-BE49-F238E27FC236}">
                <a16:creationId xmlns:a16="http://schemas.microsoft.com/office/drawing/2014/main" id="{27F9A1A0-F925-F064-B99D-65A8AAD2DF13}"/>
              </a:ext>
            </a:extLst>
          </p:cNvPr>
          <p:cNvSpPr/>
          <p:nvPr/>
        </p:nvSpPr>
        <p:spPr>
          <a:xfrm>
            <a:off x="5273992" y="1169670"/>
            <a:ext cx="36576" cy="502920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44" name="Text 46">
            <a:extLst>
              <a:ext uri="{FF2B5EF4-FFF2-40B4-BE49-F238E27FC236}">
                <a16:creationId xmlns:a16="http://schemas.microsoft.com/office/drawing/2014/main" id="{24F2595A-3F11-1134-4812-72F4D8C49F83}"/>
              </a:ext>
            </a:extLst>
          </p:cNvPr>
          <p:cNvSpPr/>
          <p:nvPr/>
        </p:nvSpPr>
        <p:spPr>
          <a:xfrm>
            <a:off x="5438584" y="112395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8B1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200" dirty="0"/>
          </a:p>
        </p:txBody>
      </p:sp>
      <p:sp>
        <p:nvSpPr>
          <p:cNvPr id="45" name="Text 48">
            <a:extLst>
              <a:ext uri="{FF2B5EF4-FFF2-40B4-BE49-F238E27FC236}">
                <a16:creationId xmlns:a16="http://schemas.microsoft.com/office/drawing/2014/main" id="{A6EB5AF7-1745-ACE2-FB09-B2AEB0A9111B}"/>
              </a:ext>
            </a:extLst>
          </p:cNvPr>
          <p:cNvSpPr/>
          <p:nvPr/>
        </p:nvSpPr>
        <p:spPr>
          <a:xfrm>
            <a:off x="5438584" y="1672590"/>
            <a:ext cx="220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科研赛道</a:t>
            </a:r>
            <a:endParaRPr lang="en-US" sz="2200" dirty="0"/>
          </a:p>
        </p:txBody>
      </p:sp>
      <p:sp>
        <p:nvSpPr>
          <p:cNvPr id="46" name="Shape 49">
            <a:extLst>
              <a:ext uri="{FF2B5EF4-FFF2-40B4-BE49-F238E27FC236}">
                <a16:creationId xmlns:a16="http://schemas.microsoft.com/office/drawing/2014/main" id="{21BC63AA-57FD-17C6-C716-C388FBA207AE}"/>
              </a:ext>
            </a:extLst>
          </p:cNvPr>
          <p:cNvSpPr/>
          <p:nvPr/>
        </p:nvSpPr>
        <p:spPr>
          <a:xfrm>
            <a:off x="5438584" y="2175510"/>
            <a:ext cx="2100000" cy="10973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7" name="Text 50">
            <a:extLst>
              <a:ext uri="{FF2B5EF4-FFF2-40B4-BE49-F238E27FC236}">
                <a16:creationId xmlns:a16="http://schemas.microsoft.com/office/drawing/2014/main" id="{53E8D7E6-15A1-01C2-6427-F96EB264FFC2}"/>
              </a:ext>
            </a:extLst>
          </p:cNvPr>
          <p:cNvSpPr/>
          <p:nvPr/>
        </p:nvSpPr>
        <p:spPr>
          <a:xfrm>
            <a:off x="5438584" y="2266950"/>
            <a:ext cx="21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8B1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 心 价 值</a:t>
            </a:r>
            <a:endParaRPr lang="en-US" sz="1000" dirty="0"/>
          </a:p>
        </p:txBody>
      </p:sp>
      <p:sp>
        <p:nvSpPr>
          <p:cNvPr id="48" name="Text 51">
            <a:extLst>
              <a:ext uri="{FF2B5EF4-FFF2-40B4-BE49-F238E27FC236}">
                <a16:creationId xmlns:a16="http://schemas.microsoft.com/office/drawing/2014/main" id="{B524BDBA-1B74-5A51-FABC-C02C690C4303}"/>
              </a:ext>
            </a:extLst>
          </p:cNvPr>
          <p:cNvSpPr/>
          <p:nvPr/>
        </p:nvSpPr>
        <p:spPr>
          <a:xfrm>
            <a:off x="5438584" y="2541270"/>
            <a:ext cx="2200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05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让智能体成为你的科研伙伴。从文献检索、实验设计到数据分析、论文写作，全方位辅助科研全流程，激发创新灵感</a:t>
            </a:r>
            <a:endParaRPr lang="en-US" sz="1050" dirty="0"/>
          </a:p>
        </p:txBody>
      </p:sp>
      <p:sp>
        <p:nvSpPr>
          <p:cNvPr id="49" name="Shape 53">
            <a:extLst>
              <a:ext uri="{FF2B5EF4-FFF2-40B4-BE49-F238E27FC236}">
                <a16:creationId xmlns:a16="http://schemas.microsoft.com/office/drawing/2014/main" id="{05145E73-BE94-B9D6-51D1-DFEA8A7F2D72}"/>
              </a:ext>
            </a:extLst>
          </p:cNvPr>
          <p:cNvSpPr/>
          <p:nvPr/>
        </p:nvSpPr>
        <p:spPr>
          <a:xfrm>
            <a:off x="5382186" y="4441377"/>
            <a:ext cx="54864" cy="54864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50" name="Text 54">
            <a:extLst>
              <a:ext uri="{FF2B5EF4-FFF2-40B4-BE49-F238E27FC236}">
                <a16:creationId xmlns:a16="http://schemas.microsoft.com/office/drawing/2014/main" id="{7B078B36-895C-D098-6A81-57FEF261C137}"/>
              </a:ext>
            </a:extLst>
          </p:cNvPr>
          <p:cNvSpPr/>
          <p:nvPr/>
        </p:nvSpPr>
        <p:spPr>
          <a:xfrm>
            <a:off x="5510202" y="4377369"/>
            <a:ext cx="200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文献检索  ·  智能搜索、筛选、综述文献</a:t>
            </a:r>
            <a:endParaRPr lang="en-US" sz="1000" dirty="0"/>
          </a:p>
        </p:txBody>
      </p:sp>
      <p:sp>
        <p:nvSpPr>
          <p:cNvPr id="51" name="Shape 55">
            <a:extLst>
              <a:ext uri="{FF2B5EF4-FFF2-40B4-BE49-F238E27FC236}">
                <a16:creationId xmlns:a16="http://schemas.microsoft.com/office/drawing/2014/main" id="{E160545A-E2E3-277C-CD36-F631CADBDF05}"/>
              </a:ext>
            </a:extLst>
          </p:cNvPr>
          <p:cNvSpPr/>
          <p:nvPr/>
        </p:nvSpPr>
        <p:spPr>
          <a:xfrm>
            <a:off x="5382186" y="4770561"/>
            <a:ext cx="54864" cy="54864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52" name="Text 56">
            <a:extLst>
              <a:ext uri="{FF2B5EF4-FFF2-40B4-BE49-F238E27FC236}">
                <a16:creationId xmlns:a16="http://schemas.microsoft.com/office/drawing/2014/main" id="{4346C1F3-C2AF-8627-4AC9-F45489FD7008}"/>
              </a:ext>
            </a:extLst>
          </p:cNvPr>
          <p:cNvSpPr/>
          <p:nvPr/>
        </p:nvSpPr>
        <p:spPr>
          <a:xfrm>
            <a:off x="5510202" y="4706553"/>
            <a:ext cx="200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实验设计  ·  辅助实验方案设计与优化</a:t>
            </a:r>
            <a:endParaRPr lang="en-US" sz="1000" dirty="0"/>
          </a:p>
        </p:txBody>
      </p:sp>
      <p:sp>
        <p:nvSpPr>
          <p:cNvPr id="53" name="Shape 57">
            <a:extLst>
              <a:ext uri="{FF2B5EF4-FFF2-40B4-BE49-F238E27FC236}">
                <a16:creationId xmlns:a16="http://schemas.microsoft.com/office/drawing/2014/main" id="{6083921B-40E6-5C6D-FAE1-C91C9EBCEE28}"/>
              </a:ext>
            </a:extLst>
          </p:cNvPr>
          <p:cNvSpPr/>
          <p:nvPr/>
        </p:nvSpPr>
        <p:spPr>
          <a:xfrm>
            <a:off x="5382186" y="5099745"/>
            <a:ext cx="54864" cy="54864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54" name="Text 58">
            <a:extLst>
              <a:ext uri="{FF2B5EF4-FFF2-40B4-BE49-F238E27FC236}">
                <a16:creationId xmlns:a16="http://schemas.microsoft.com/office/drawing/2014/main" id="{B144EAB7-2128-AF8A-14E6-24EEBF3CD1AE}"/>
              </a:ext>
            </a:extLst>
          </p:cNvPr>
          <p:cNvSpPr/>
          <p:nvPr/>
        </p:nvSpPr>
        <p:spPr>
          <a:xfrm>
            <a:off x="5510202" y="5035737"/>
            <a:ext cx="200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数据分析  ·  自动清洗、统计与可视化</a:t>
            </a:r>
            <a:endParaRPr lang="en-US" sz="1000" dirty="0"/>
          </a:p>
        </p:txBody>
      </p:sp>
      <p:sp>
        <p:nvSpPr>
          <p:cNvPr id="55" name="Shape 59">
            <a:extLst>
              <a:ext uri="{FF2B5EF4-FFF2-40B4-BE49-F238E27FC236}">
                <a16:creationId xmlns:a16="http://schemas.microsoft.com/office/drawing/2014/main" id="{6CAE021F-6550-FE44-948E-179AA03609AB}"/>
              </a:ext>
            </a:extLst>
          </p:cNvPr>
          <p:cNvSpPr/>
          <p:nvPr/>
        </p:nvSpPr>
        <p:spPr>
          <a:xfrm>
            <a:off x="5382186" y="5428929"/>
            <a:ext cx="54864" cy="54864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56" name="Text 60">
            <a:extLst>
              <a:ext uri="{FF2B5EF4-FFF2-40B4-BE49-F238E27FC236}">
                <a16:creationId xmlns:a16="http://schemas.microsoft.com/office/drawing/2014/main" id="{2395483D-D977-46F1-572F-A050A6B13035}"/>
              </a:ext>
            </a:extLst>
          </p:cNvPr>
          <p:cNvSpPr/>
          <p:nvPr/>
        </p:nvSpPr>
        <p:spPr>
          <a:xfrm>
            <a:off x="5510202" y="5364921"/>
            <a:ext cx="200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科研写作  ·  辅助论文撰写与引用管理</a:t>
            </a:r>
            <a:endParaRPr lang="en-US" sz="1000" dirty="0"/>
          </a:p>
        </p:txBody>
      </p:sp>
      <p:sp>
        <p:nvSpPr>
          <p:cNvPr id="57" name="Shape 61">
            <a:extLst>
              <a:ext uri="{FF2B5EF4-FFF2-40B4-BE49-F238E27FC236}">
                <a16:creationId xmlns:a16="http://schemas.microsoft.com/office/drawing/2014/main" id="{7FD8F05A-B1DF-D9E1-CB5C-B78B8BFA8B17}"/>
              </a:ext>
            </a:extLst>
          </p:cNvPr>
          <p:cNvSpPr/>
          <p:nvPr/>
        </p:nvSpPr>
        <p:spPr>
          <a:xfrm>
            <a:off x="5382186" y="5758113"/>
            <a:ext cx="54864" cy="54864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58" name="Text 62">
            <a:extLst>
              <a:ext uri="{FF2B5EF4-FFF2-40B4-BE49-F238E27FC236}">
                <a16:creationId xmlns:a16="http://schemas.microsoft.com/office/drawing/2014/main" id="{5F9D3BF5-366C-7034-0A0A-75432316252B}"/>
              </a:ext>
            </a:extLst>
          </p:cNvPr>
          <p:cNvSpPr/>
          <p:nvPr/>
        </p:nvSpPr>
        <p:spPr>
          <a:xfrm>
            <a:off x="5510202" y="5694105"/>
            <a:ext cx="200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创新灵感  ·  跨领域知识关联与思路启发</a:t>
            </a:r>
            <a:endParaRPr lang="en-US" sz="1000" dirty="0"/>
          </a:p>
        </p:txBody>
      </p:sp>
      <p:sp>
        <p:nvSpPr>
          <p:cNvPr id="59" name="Shape 63">
            <a:extLst>
              <a:ext uri="{FF2B5EF4-FFF2-40B4-BE49-F238E27FC236}">
                <a16:creationId xmlns:a16="http://schemas.microsoft.com/office/drawing/2014/main" id="{F38F6B60-A471-9DD4-DD1E-5F9D06B4A422}"/>
              </a:ext>
            </a:extLst>
          </p:cNvPr>
          <p:cNvSpPr/>
          <p:nvPr/>
        </p:nvSpPr>
        <p:spPr>
          <a:xfrm>
            <a:off x="5382186" y="6087297"/>
            <a:ext cx="54864" cy="54864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60" name="Text 64">
            <a:extLst>
              <a:ext uri="{FF2B5EF4-FFF2-40B4-BE49-F238E27FC236}">
                <a16:creationId xmlns:a16="http://schemas.microsoft.com/office/drawing/2014/main" id="{D4A24E9D-2A83-24DE-1825-0327729F579C}"/>
              </a:ext>
            </a:extLst>
          </p:cNvPr>
          <p:cNvSpPr/>
          <p:nvPr/>
        </p:nvSpPr>
        <p:spPr>
          <a:xfrm>
            <a:off x="5510202" y="6023289"/>
            <a:ext cx="200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学术协作  ·  多人合著、版本管理、同行评审</a:t>
            </a:r>
            <a:endParaRPr lang="en-US" sz="1000" dirty="0"/>
          </a:p>
        </p:txBody>
      </p:sp>
      <p:sp>
        <p:nvSpPr>
          <p:cNvPr id="61" name="Text 12">
            <a:extLst>
              <a:ext uri="{FF2B5EF4-FFF2-40B4-BE49-F238E27FC236}">
                <a16:creationId xmlns:a16="http://schemas.microsoft.com/office/drawing/2014/main" id="{51AE0735-2E65-394A-8E61-324C75F29C04}"/>
              </a:ext>
            </a:extLst>
          </p:cNvPr>
          <p:cNvSpPr/>
          <p:nvPr/>
        </p:nvSpPr>
        <p:spPr>
          <a:xfrm>
            <a:off x="2852346" y="4012799"/>
            <a:ext cx="21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000" b="1" kern="0" spc="600" dirty="0">
                <a:solidFill>
                  <a:srgbClr val="8B1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示 意 方 向</a:t>
            </a:r>
            <a:endParaRPr lang="en-US" sz="1000" dirty="0"/>
          </a:p>
        </p:txBody>
      </p:sp>
      <p:sp>
        <p:nvSpPr>
          <p:cNvPr id="62" name="Text 12">
            <a:extLst>
              <a:ext uri="{FF2B5EF4-FFF2-40B4-BE49-F238E27FC236}">
                <a16:creationId xmlns:a16="http://schemas.microsoft.com/office/drawing/2014/main" id="{B51C97B7-FEB5-49EE-8494-8356AA85F7D4}"/>
              </a:ext>
            </a:extLst>
          </p:cNvPr>
          <p:cNvSpPr/>
          <p:nvPr/>
        </p:nvSpPr>
        <p:spPr>
          <a:xfrm>
            <a:off x="5382186" y="4012799"/>
            <a:ext cx="21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000" b="1" kern="0" spc="600" dirty="0">
                <a:solidFill>
                  <a:srgbClr val="8B1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示 意 方 向</a:t>
            </a:r>
            <a:endParaRPr lang="en-US" sz="1000" dirty="0"/>
          </a:p>
        </p:txBody>
      </p: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1A747C67-8B56-FADE-93D7-DE208FF23372}"/>
              </a:ext>
            </a:extLst>
          </p:cNvPr>
          <p:cNvSpPr/>
          <p:nvPr/>
        </p:nvSpPr>
        <p:spPr>
          <a:xfrm>
            <a:off x="194490" y="3891947"/>
            <a:ext cx="11731563" cy="2378889"/>
          </a:xfrm>
          <a:prstGeom prst="roundRect">
            <a:avLst>
              <a:gd name="adj" fmla="val 3488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Shape 45">
            <a:extLst>
              <a:ext uri="{FF2B5EF4-FFF2-40B4-BE49-F238E27FC236}">
                <a16:creationId xmlns:a16="http://schemas.microsoft.com/office/drawing/2014/main" id="{27F9A1A0-F925-F064-B99D-65A8AAD2DF13}"/>
              </a:ext>
            </a:extLst>
          </p:cNvPr>
          <p:cNvSpPr/>
          <p:nvPr/>
        </p:nvSpPr>
        <p:spPr>
          <a:xfrm>
            <a:off x="7803832" y="1169670"/>
            <a:ext cx="36576" cy="502920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65" name="Text 46">
            <a:extLst>
              <a:ext uri="{FF2B5EF4-FFF2-40B4-BE49-F238E27FC236}">
                <a16:creationId xmlns:a16="http://schemas.microsoft.com/office/drawing/2014/main" id="{24F2595A-3F11-1134-4812-72F4D8C49F83}"/>
              </a:ext>
            </a:extLst>
          </p:cNvPr>
          <p:cNvSpPr/>
          <p:nvPr/>
        </p:nvSpPr>
        <p:spPr>
          <a:xfrm>
            <a:off x="7968424" y="112395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8B1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200" dirty="0"/>
          </a:p>
        </p:txBody>
      </p:sp>
      <p:sp>
        <p:nvSpPr>
          <p:cNvPr id="66" name="Text 48">
            <a:extLst>
              <a:ext uri="{FF2B5EF4-FFF2-40B4-BE49-F238E27FC236}">
                <a16:creationId xmlns:a16="http://schemas.microsoft.com/office/drawing/2014/main" id="{A6EB5AF7-1745-ACE2-FB09-B2AEB0A9111B}"/>
              </a:ext>
            </a:extLst>
          </p:cNvPr>
          <p:cNvSpPr/>
          <p:nvPr/>
        </p:nvSpPr>
        <p:spPr>
          <a:xfrm>
            <a:off x="7968424" y="1672590"/>
            <a:ext cx="220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设备互联赛道</a:t>
            </a:r>
            <a:endParaRPr lang="en-US" sz="2200" dirty="0"/>
          </a:p>
        </p:txBody>
      </p:sp>
      <p:sp>
        <p:nvSpPr>
          <p:cNvPr id="67" name="Shape 49">
            <a:extLst>
              <a:ext uri="{FF2B5EF4-FFF2-40B4-BE49-F238E27FC236}">
                <a16:creationId xmlns:a16="http://schemas.microsoft.com/office/drawing/2014/main" id="{21BC63AA-57FD-17C6-C716-C388FBA207AE}"/>
              </a:ext>
            </a:extLst>
          </p:cNvPr>
          <p:cNvSpPr/>
          <p:nvPr/>
        </p:nvSpPr>
        <p:spPr>
          <a:xfrm>
            <a:off x="7968424" y="2175510"/>
            <a:ext cx="2100000" cy="10973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8" name="Text 50">
            <a:extLst>
              <a:ext uri="{FF2B5EF4-FFF2-40B4-BE49-F238E27FC236}">
                <a16:creationId xmlns:a16="http://schemas.microsoft.com/office/drawing/2014/main" id="{53E8D7E6-15A1-01C2-6427-F96EB264FFC2}"/>
              </a:ext>
            </a:extLst>
          </p:cNvPr>
          <p:cNvSpPr/>
          <p:nvPr/>
        </p:nvSpPr>
        <p:spPr>
          <a:xfrm>
            <a:off x="7968424" y="2266950"/>
            <a:ext cx="21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8B1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 心 价 值</a:t>
            </a:r>
            <a:endParaRPr lang="en-US" sz="1000" dirty="0"/>
          </a:p>
        </p:txBody>
      </p:sp>
      <p:sp>
        <p:nvSpPr>
          <p:cNvPr id="69" name="Text 51">
            <a:extLst>
              <a:ext uri="{FF2B5EF4-FFF2-40B4-BE49-F238E27FC236}">
                <a16:creationId xmlns:a16="http://schemas.microsoft.com/office/drawing/2014/main" id="{B524BDBA-1B74-5A51-FABC-C02C690C4303}"/>
              </a:ext>
            </a:extLst>
          </p:cNvPr>
          <p:cNvSpPr/>
          <p:nvPr/>
        </p:nvSpPr>
        <p:spPr>
          <a:xfrm>
            <a:off x="7968424" y="2541270"/>
            <a:ext cx="2200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05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让智能体突破数字边界。跟硬件生态结合，实现人机/机机联动，将智能体的眼、手、脚实体化，打造虚实融合新体验</a:t>
            </a:r>
            <a:endParaRPr lang="en-US" sz="1050" dirty="0"/>
          </a:p>
        </p:txBody>
      </p:sp>
      <p:sp>
        <p:nvSpPr>
          <p:cNvPr id="70" name="Text 12">
            <a:extLst>
              <a:ext uri="{FF2B5EF4-FFF2-40B4-BE49-F238E27FC236}">
                <a16:creationId xmlns:a16="http://schemas.microsoft.com/office/drawing/2014/main" id="{B51C97B7-FEB5-49EE-8494-8356AA85F7D4}"/>
              </a:ext>
            </a:extLst>
          </p:cNvPr>
          <p:cNvSpPr/>
          <p:nvPr/>
        </p:nvSpPr>
        <p:spPr>
          <a:xfrm>
            <a:off x="7912026" y="4012799"/>
            <a:ext cx="21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000" b="1" kern="0" spc="600" dirty="0">
                <a:solidFill>
                  <a:srgbClr val="8B1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示 意 方 向</a:t>
            </a:r>
            <a:endParaRPr lang="en-US" sz="1000" dirty="0"/>
          </a:p>
        </p:txBody>
      </p:sp>
      <p:sp>
        <p:nvSpPr>
          <p:cNvPr id="71" name="Shape 53">
            <a:extLst>
              <a:ext uri="{FF2B5EF4-FFF2-40B4-BE49-F238E27FC236}">
                <a16:creationId xmlns:a16="http://schemas.microsoft.com/office/drawing/2014/main" id="{05145E73-BE94-B9D6-51D1-DFEA8A7F2D72}"/>
              </a:ext>
            </a:extLst>
          </p:cNvPr>
          <p:cNvSpPr/>
          <p:nvPr/>
        </p:nvSpPr>
        <p:spPr>
          <a:xfrm>
            <a:off x="7912026" y="4441377"/>
            <a:ext cx="54864" cy="54864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72" name="Shape 55">
            <a:extLst>
              <a:ext uri="{FF2B5EF4-FFF2-40B4-BE49-F238E27FC236}">
                <a16:creationId xmlns:a16="http://schemas.microsoft.com/office/drawing/2014/main" id="{E160545A-E2E3-277C-CD36-F631CADBDF05}"/>
              </a:ext>
            </a:extLst>
          </p:cNvPr>
          <p:cNvSpPr/>
          <p:nvPr/>
        </p:nvSpPr>
        <p:spPr>
          <a:xfrm>
            <a:off x="7912026" y="4770561"/>
            <a:ext cx="54864" cy="54864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73" name="Shape 57">
            <a:extLst>
              <a:ext uri="{FF2B5EF4-FFF2-40B4-BE49-F238E27FC236}">
                <a16:creationId xmlns:a16="http://schemas.microsoft.com/office/drawing/2014/main" id="{6083921B-40E6-5C6D-FAE1-C91C9EBCEE28}"/>
              </a:ext>
            </a:extLst>
          </p:cNvPr>
          <p:cNvSpPr/>
          <p:nvPr/>
        </p:nvSpPr>
        <p:spPr>
          <a:xfrm>
            <a:off x="7912026" y="5099745"/>
            <a:ext cx="54864" cy="54864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74" name="Shape 59">
            <a:extLst>
              <a:ext uri="{FF2B5EF4-FFF2-40B4-BE49-F238E27FC236}">
                <a16:creationId xmlns:a16="http://schemas.microsoft.com/office/drawing/2014/main" id="{6CAE021F-6550-FE44-948E-179AA03609AB}"/>
              </a:ext>
            </a:extLst>
          </p:cNvPr>
          <p:cNvSpPr/>
          <p:nvPr/>
        </p:nvSpPr>
        <p:spPr>
          <a:xfrm>
            <a:off x="7912026" y="5428929"/>
            <a:ext cx="54864" cy="54864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75" name="Shape 61">
            <a:extLst>
              <a:ext uri="{FF2B5EF4-FFF2-40B4-BE49-F238E27FC236}">
                <a16:creationId xmlns:a16="http://schemas.microsoft.com/office/drawing/2014/main" id="{7FD8F05A-B1DF-D9E1-CB5C-B78B8BFA8B17}"/>
              </a:ext>
            </a:extLst>
          </p:cNvPr>
          <p:cNvSpPr/>
          <p:nvPr/>
        </p:nvSpPr>
        <p:spPr>
          <a:xfrm>
            <a:off x="7912026" y="5758113"/>
            <a:ext cx="54864" cy="54864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76" name="Shape 63">
            <a:extLst>
              <a:ext uri="{FF2B5EF4-FFF2-40B4-BE49-F238E27FC236}">
                <a16:creationId xmlns:a16="http://schemas.microsoft.com/office/drawing/2014/main" id="{F38F6B60-A471-9DD4-DD1E-5F9D06B4A422}"/>
              </a:ext>
            </a:extLst>
          </p:cNvPr>
          <p:cNvSpPr/>
          <p:nvPr/>
        </p:nvSpPr>
        <p:spPr>
          <a:xfrm>
            <a:off x="7912026" y="6087297"/>
            <a:ext cx="54864" cy="54864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77" name="Text 54">
            <a:extLst>
              <a:ext uri="{FF2B5EF4-FFF2-40B4-BE49-F238E27FC236}">
                <a16:creationId xmlns:a16="http://schemas.microsoft.com/office/drawing/2014/main" id="{7B078B36-895C-D098-6A81-57FEF261C137}"/>
              </a:ext>
            </a:extLst>
          </p:cNvPr>
          <p:cNvSpPr/>
          <p:nvPr/>
        </p:nvSpPr>
        <p:spPr>
          <a:xfrm>
            <a:off x="8040042" y="4377369"/>
            <a:ext cx="200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人机联动  ·  语音、手势、眼动多模态交互</a:t>
            </a:r>
            <a:endParaRPr lang="en-US" sz="1000" dirty="0"/>
          </a:p>
        </p:txBody>
      </p:sp>
      <p:sp>
        <p:nvSpPr>
          <p:cNvPr id="78" name="Text 56">
            <a:extLst>
              <a:ext uri="{FF2B5EF4-FFF2-40B4-BE49-F238E27FC236}">
                <a16:creationId xmlns:a16="http://schemas.microsoft.com/office/drawing/2014/main" id="{4346C1F3-C2AF-8627-4AC9-F45489FD7008}"/>
              </a:ext>
            </a:extLst>
          </p:cNvPr>
          <p:cNvSpPr/>
          <p:nvPr/>
        </p:nvSpPr>
        <p:spPr>
          <a:xfrm>
            <a:off x="8040042" y="4706553"/>
            <a:ext cx="200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机机联动  ·  跨设备协同、任务自动流转</a:t>
            </a:r>
            <a:endParaRPr lang="en-US" sz="1000" dirty="0"/>
          </a:p>
        </p:txBody>
      </p:sp>
      <p:sp>
        <p:nvSpPr>
          <p:cNvPr id="79" name="Text 58">
            <a:extLst>
              <a:ext uri="{FF2B5EF4-FFF2-40B4-BE49-F238E27FC236}">
                <a16:creationId xmlns:a16="http://schemas.microsoft.com/office/drawing/2014/main" id="{B144EAB7-2128-AF8A-14E6-24EEBF3CD1AE}"/>
              </a:ext>
            </a:extLst>
          </p:cNvPr>
          <p:cNvSpPr/>
          <p:nvPr/>
        </p:nvSpPr>
        <p:spPr>
          <a:xfrm>
            <a:off x="8040042" y="5035737"/>
            <a:ext cx="200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智能体眼  ·  摄像头/传感器感知环境</a:t>
            </a:r>
            <a:endParaRPr lang="en-US" sz="1000" dirty="0"/>
          </a:p>
        </p:txBody>
      </p:sp>
      <p:sp>
        <p:nvSpPr>
          <p:cNvPr id="80" name="Text 60">
            <a:extLst>
              <a:ext uri="{FF2B5EF4-FFF2-40B4-BE49-F238E27FC236}">
                <a16:creationId xmlns:a16="http://schemas.microsoft.com/office/drawing/2014/main" id="{2395483D-D977-46F1-572F-A050A6B13035}"/>
              </a:ext>
            </a:extLst>
          </p:cNvPr>
          <p:cNvSpPr/>
          <p:nvPr/>
        </p:nvSpPr>
        <p:spPr>
          <a:xfrm>
            <a:off x="8040042" y="5364921"/>
            <a:ext cx="200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智能体手  ·  机械臂/机器人执行物理操作</a:t>
            </a:r>
            <a:endParaRPr lang="en-US" sz="1000" dirty="0"/>
          </a:p>
        </p:txBody>
      </p:sp>
      <p:sp>
        <p:nvSpPr>
          <p:cNvPr id="81" name="Text 62">
            <a:extLst>
              <a:ext uri="{FF2B5EF4-FFF2-40B4-BE49-F238E27FC236}">
                <a16:creationId xmlns:a16="http://schemas.microsoft.com/office/drawing/2014/main" id="{5F9D3BF5-366C-7034-0A0A-75432316252B}"/>
              </a:ext>
            </a:extLst>
          </p:cNvPr>
          <p:cNvSpPr/>
          <p:nvPr/>
        </p:nvSpPr>
        <p:spPr>
          <a:xfrm>
            <a:off x="8040042" y="5694105"/>
            <a:ext cx="200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智能体脚  ·  移动平台实现空间自主移动</a:t>
            </a:r>
            <a:endParaRPr lang="en-US" sz="1000" dirty="0"/>
          </a:p>
        </p:txBody>
      </p:sp>
      <p:sp>
        <p:nvSpPr>
          <p:cNvPr id="82" name="Text 64">
            <a:extLst>
              <a:ext uri="{FF2B5EF4-FFF2-40B4-BE49-F238E27FC236}">
                <a16:creationId xmlns:a16="http://schemas.microsoft.com/office/drawing/2014/main" id="{D4A24E9D-2A83-24DE-1825-0327729F579C}"/>
              </a:ext>
            </a:extLst>
          </p:cNvPr>
          <p:cNvSpPr/>
          <p:nvPr/>
        </p:nvSpPr>
        <p:spPr>
          <a:xfrm>
            <a:off x="8040042" y="6023289"/>
            <a:ext cx="200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虚实融合  ·  数字孪生、AR/VR联动体验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0348110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A4BE5DFA-6732-0FBC-D1EC-464120CBDE7B}"/>
              </a:ext>
            </a:extLst>
          </p:cNvPr>
          <p:cNvGraphicFramePr>
            <a:graphicFrameLocks noGrp="1"/>
          </p:cNvGraphicFramePr>
          <p:nvPr/>
        </p:nvGraphicFramePr>
        <p:xfrm>
          <a:off x="380999" y="1194587"/>
          <a:ext cx="11223171" cy="4468826"/>
        </p:xfrm>
        <a:graphic>
          <a:graphicData uri="http://schemas.openxmlformats.org/drawingml/2006/table">
            <a:tbl>
              <a:tblPr/>
              <a:tblGrid>
                <a:gridCol w="3741057">
                  <a:extLst>
                    <a:ext uri="{9D8B030D-6E8A-4147-A177-3AD203B41FA5}">
                      <a16:colId xmlns:a16="http://schemas.microsoft.com/office/drawing/2014/main" val="1690280833"/>
                    </a:ext>
                  </a:extLst>
                </a:gridCol>
                <a:gridCol w="3741057">
                  <a:extLst>
                    <a:ext uri="{9D8B030D-6E8A-4147-A177-3AD203B41FA5}">
                      <a16:colId xmlns:a16="http://schemas.microsoft.com/office/drawing/2014/main" val="3684386755"/>
                    </a:ext>
                  </a:extLst>
                </a:gridCol>
                <a:gridCol w="3741057">
                  <a:extLst>
                    <a:ext uri="{9D8B030D-6E8A-4147-A177-3AD203B41FA5}">
                      <a16:colId xmlns:a16="http://schemas.microsoft.com/office/drawing/2014/main" val="929551258"/>
                    </a:ext>
                  </a:extLst>
                </a:gridCol>
              </a:tblGrid>
              <a:tr h="37347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标准</a:t>
                      </a:r>
                    </a:p>
                  </a:txBody>
                  <a:tcPr marL="3493" marR="3493" marT="349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描述</a:t>
                      </a:r>
                    </a:p>
                  </a:txBody>
                  <a:tcPr marL="3493" marR="3493" marT="349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分数定位</a:t>
                      </a:r>
                    </a:p>
                  </a:txBody>
                  <a:tcPr marL="3493" marR="3493" marT="349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137209"/>
                  </a:ext>
                </a:extLst>
              </a:tr>
              <a:tr h="195140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项目运行</a:t>
                      </a:r>
                    </a:p>
                  </a:txBody>
                  <a:tcPr marL="3493" marR="3493" marT="349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所有团队都必须制作真正的原型</a:t>
                      </a:r>
                    </a:p>
                  </a:txBody>
                  <a:tcPr marL="3493" marR="3493" marT="349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：重大问题或项目未运行</a:t>
                      </a:r>
                    </a:p>
                  </a:txBody>
                  <a:tcPr marL="3493" marR="3493" marT="349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170035"/>
                  </a:ext>
                </a:extLst>
              </a:tr>
              <a:tr h="19514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：小错误</a:t>
                      </a:r>
                    </a:p>
                  </a:txBody>
                  <a:tcPr marL="3493" marR="3493" marT="349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464316"/>
                  </a:ext>
                </a:extLst>
              </a:tr>
              <a:tr h="19514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：可运行</a:t>
                      </a:r>
                    </a:p>
                  </a:txBody>
                  <a:tcPr marL="3493" marR="3493" marT="349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5079136"/>
                  </a:ext>
                </a:extLst>
              </a:tr>
              <a:tr h="19514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r>
                        <a:rPr lang="zh-CN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：完美执行</a:t>
                      </a:r>
                    </a:p>
                  </a:txBody>
                  <a:tcPr marL="3493" marR="3493" marT="349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716894"/>
                  </a:ext>
                </a:extLst>
              </a:tr>
              <a:tr h="19514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r>
                        <a:rPr lang="zh-CN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：卓越且安全的架构</a:t>
                      </a:r>
                    </a:p>
                  </a:txBody>
                  <a:tcPr marL="3493" marR="3493" marT="349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6575128"/>
                  </a:ext>
                </a:extLst>
              </a:tr>
              <a:tr h="195140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创新与创造力</a:t>
                      </a:r>
                      <a:br>
                        <a:rPr lang="zh-CN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zh-CN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（创造性）</a:t>
                      </a:r>
                    </a:p>
                  </a:txBody>
                  <a:tcPr marL="3493" marR="3493" marT="349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致力于寻求</a:t>
                      </a:r>
                      <a:r>
                        <a:rPr lang="en-US" altLang="zh-CN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AI</a:t>
                      </a:r>
                      <a:r>
                        <a:rPr lang="zh-CN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智能体界限的突破性想法</a:t>
                      </a:r>
                    </a:p>
                  </a:txBody>
                  <a:tcPr marL="3493" marR="3493" marT="349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：非原创的想法</a:t>
                      </a:r>
                    </a:p>
                  </a:txBody>
                  <a:tcPr marL="3493" marR="3493" marT="349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2030259"/>
                  </a:ext>
                </a:extLst>
              </a:tr>
              <a:tr h="19514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：以前尝试过的想法</a:t>
                      </a:r>
                    </a:p>
                  </a:txBody>
                  <a:tcPr marL="3493" marR="3493" marT="349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4187855"/>
                  </a:ext>
                </a:extLst>
              </a:tr>
              <a:tr h="19514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：有些新意的想法</a:t>
                      </a:r>
                    </a:p>
                  </a:txBody>
                  <a:tcPr marL="3493" marR="3493" marT="349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980220"/>
                  </a:ext>
                </a:extLst>
              </a:tr>
              <a:tr h="19514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：新颖的概念或创造性的解决方案</a:t>
                      </a:r>
                    </a:p>
                  </a:txBody>
                  <a:tcPr marL="3493" marR="3493" marT="349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0991707"/>
                  </a:ext>
                </a:extLst>
              </a:tr>
              <a:tr h="19514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：具有出色实施效果的突破性想法</a:t>
                      </a:r>
                    </a:p>
                  </a:txBody>
                  <a:tcPr marL="3493" marR="3493" marT="349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9708223"/>
                  </a:ext>
                </a:extLst>
              </a:tr>
              <a:tr h="195140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对现实世界的影响</a:t>
                      </a:r>
                      <a:br>
                        <a:rPr lang="zh-CN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zh-CN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（价值性）</a:t>
                      </a:r>
                    </a:p>
                  </a:txBody>
                  <a:tcPr marL="3493" marR="3493" marT="349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有可能对用户或垂直领域产生重大影响的工作</a:t>
                      </a:r>
                    </a:p>
                  </a:txBody>
                  <a:tcPr marL="3493" marR="3493" marT="349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：实际用途有限</a:t>
                      </a:r>
                    </a:p>
                  </a:txBody>
                  <a:tcPr marL="3493" marR="3493" marT="349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5507624"/>
                  </a:ext>
                </a:extLst>
              </a:tr>
              <a:tr h="19514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：具有未来潜力，但当前没有影响</a:t>
                      </a:r>
                    </a:p>
                  </a:txBody>
                  <a:tcPr marL="3493" marR="3493" marT="349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5187568"/>
                  </a:ext>
                </a:extLst>
              </a:tr>
              <a:tr h="19514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：对当前有一定的影响</a:t>
                      </a:r>
                    </a:p>
                  </a:txBody>
                  <a:tcPr marL="3493" marR="3493" marT="349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5297662"/>
                  </a:ext>
                </a:extLst>
              </a:tr>
              <a:tr h="19514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：解决了重大需求</a:t>
                      </a:r>
                    </a:p>
                  </a:txBody>
                  <a:tcPr marL="3493" marR="3493" marT="349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5666701"/>
                  </a:ext>
                </a:extLst>
              </a:tr>
              <a:tr h="19514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：具有改变生活的潜力，以创新方式解决关键问题</a:t>
                      </a:r>
                    </a:p>
                  </a:txBody>
                  <a:tcPr marL="3493" marR="3493" marT="349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035955"/>
                  </a:ext>
                </a:extLst>
              </a:tr>
              <a:tr h="195140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主题一致性</a:t>
                      </a:r>
                      <a:br>
                        <a:rPr lang="zh-CN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zh-CN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（相关性）</a:t>
                      </a:r>
                    </a:p>
                  </a:txBody>
                  <a:tcPr marL="3493" marR="3493" marT="349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与本次主题相一致</a:t>
                      </a:r>
                    </a:p>
                  </a:txBody>
                  <a:tcPr marL="3493" marR="3493" marT="349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：与主题几乎不相关</a:t>
                      </a:r>
                    </a:p>
                  </a:txBody>
                  <a:tcPr marL="3493" marR="3493" marT="349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9669339"/>
                  </a:ext>
                </a:extLst>
              </a:tr>
              <a:tr h="19514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：与主题有表面上的联系</a:t>
                      </a:r>
                    </a:p>
                  </a:txBody>
                  <a:tcPr marL="3493" marR="3493" marT="349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0080510"/>
                  </a:ext>
                </a:extLst>
              </a:tr>
              <a:tr h="19514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：和主题一致</a:t>
                      </a:r>
                    </a:p>
                  </a:txBody>
                  <a:tcPr marL="3493" marR="3493" marT="349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941106"/>
                  </a:ext>
                </a:extLst>
              </a:tr>
              <a:tr h="19514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：清晰而有意义地体现了主题</a:t>
                      </a:r>
                    </a:p>
                  </a:txBody>
                  <a:tcPr marL="3493" marR="3493" marT="349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36234"/>
                  </a:ext>
                </a:extLst>
              </a:tr>
              <a:tr h="38769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：完美的体现和提升了主题，展示了先进的</a:t>
                      </a:r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AI</a:t>
                      </a: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能力在现实场景中的创新应用</a:t>
                      </a:r>
                    </a:p>
                  </a:txBody>
                  <a:tcPr marL="3493" marR="3493" marT="349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7594854"/>
                  </a:ext>
                </a:extLst>
              </a:tr>
            </a:tbl>
          </a:graphicData>
        </a:graphic>
      </p:graphicFrame>
      <p:sp>
        <p:nvSpPr>
          <p:cNvPr id="2" name="Text 3">
            <a:extLst>
              <a:ext uri="{FF2B5EF4-FFF2-40B4-BE49-F238E27FC236}">
                <a16:creationId xmlns:a16="http://schemas.microsoft.com/office/drawing/2014/main" id="{65051B87-7043-7750-3C72-244580A55713}"/>
              </a:ext>
            </a:extLst>
          </p:cNvPr>
          <p:cNvSpPr/>
          <p:nvPr/>
        </p:nvSpPr>
        <p:spPr>
          <a:xfrm>
            <a:off x="127000" y="191919"/>
            <a:ext cx="12069763" cy="43601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 defTabSz="1187323">
              <a:lnSpc>
                <a:spcPts val="3429"/>
              </a:lnSpc>
            </a:pPr>
            <a:r>
              <a:rPr lang="zh-CN" altLang="en-US" sz="32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附：评分标准</a:t>
            </a:r>
            <a:endParaRPr lang="en-US" sz="32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8010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副标题 1">
            <a:extLst>
              <a:ext uri="{FF2B5EF4-FFF2-40B4-BE49-F238E27FC236}">
                <a16:creationId xmlns:a16="http://schemas.microsoft.com/office/drawing/2014/main" id="{DFE061A5-89C1-4791-A5E4-A22684C29189}"/>
              </a:ext>
            </a:extLst>
          </p:cNvPr>
          <p:cNvSpPr txBox="1">
            <a:spLocks/>
          </p:cNvSpPr>
          <p:nvPr/>
        </p:nvSpPr>
        <p:spPr>
          <a:xfrm>
            <a:off x="345362" y="249186"/>
            <a:ext cx="10736446" cy="375990"/>
          </a:xfrm>
          <a:prstGeom prst="rect">
            <a:avLst/>
          </a:prstGeom>
        </p:spPr>
        <p:txBody>
          <a:bodyPr lIns="0" tIns="0" rIns="0" bIns="0" anchor="t" wrap="square">
            <a:noAutofit/>
          </a:bodyPr>
          <a:lstStyle>
            <a:lvl1pPr marL="0" indent="0" algn="l" defTabSz="1187323" rtl="0" eaLnBrk="1" latinLnBrk="0" hangingPunct="1">
              <a:lnSpc>
                <a:spcPts val="3429"/>
              </a:lnSpc>
              <a:spcBef>
                <a:spcPts val="0"/>
              </a:spcBef>
              <a:buFont typeface="Arial" panose="020B0604020202020204" pitchFamily="34" charset="0"/>
              <a:buNone/>
              <a:defRPr sz="3200" b="1" kern="1200" baseline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593662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5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7323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3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0986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4648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8309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1971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5634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49295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600" b="1">
                <a:solidFill>
                  <a:srgbClr val="C00000"/>
                </a:solidFill>
                <a:latin typeface="Microsoft YaHei"/>
                <a:ea typeface="Microsoft YaHei"/>
              </a:rPr>
              <a:t>Demo 分镜：60 秒创意版 / 3 分钟 DEMO 版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1412FABC-FF23-43D9-BC0E-FC6FB3E551E7}"/>
              </a:ext>
            </a:extLst>
          </p:cNvPr>
          <p:cNvCxnSpPr>
            <a:cxnSpLocks/>
            <a:stCxn id="6" idx="1"/>
            <a:endCxn id="6" idx="3"/>
          </p:cNvCxnSpPr>
          <p:nvPr/>
        </p:nvCxnSpPr>
        <p:spPr>
          <a:xfrm>
            <a:off x="88900" y="3607496"/>
            <a:ext cx="11950700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BE8267FD-BF60-4A01-83C9-9929DF12CFCE}"/>
              </a:ext>
            </a:extLst>
          </p:cNvPr>
          <p:cNvCxnSpPr>
            <a:cxnSpLocks/>
          </p:cNvCxnSpPr>
          <p:nvPr/>
        </p:nvCxnSpPr>
        <p:spPr>
          <a:xfrm>
            <a:off x="5795376" y="3623415"/>
            <a:ext cx="0" cy="2739285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83F2A6C2-0B11-48B1-B070-FF9968A32862}"/>
              </a:ext>
            </a:extLst>
          </p:cNvPr>
          <p:cNvSpPr/>
          <p:nvPr/>
        </p:nvSpPr>
        <p:spPr>
          <a:xfrm>
            <a:off x="88900" y="889348"/>
            <a:ext cx="11950700" cy="5436296"/>
          </a:xfrm>
          <a:prstGeom prst="roundRect">
            <a:avLst>
              <a:gd name="adj" fmla="val 8257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1B0417D-87D1-435A-A19A-C07FC4D39D6F}"/>
              </a:ext>
            </a:extLst>
          </p:cNvPr>
          <p:cNvSpPr txBox="1"/>
          <p:nvPr/>
        </p:nvSpPr>
        <p:spPr>
          <a:xfrm>
            <a:off x="415677" y="3763412"/>
            <a:ext cx="5256000" cy="32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sz="1800" b="1">
                <a:solidFill>
                  <a:srgbClr val="2B2B2B"/>
                </a:solidFill>
                <a:latin typeface="Microsoft YaHei"/>
                <a:ea typeface="Microsoft YaHei"/>
              </a:rPr>
              <a:t>拍摄要点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3900522-0BC3-4410-943D-64E58AD7FB10}"/>
              </a:ext>
            </a:extLst>
          </p:cNvPr>
          <p:cNvSpPr txBox="1"/>
          <p:nvPr/>
        </p:nvSpPr>
        <p:spPr>
          <a:xfrm>
            <a:off x="300624" y="1023604"/>
            <a:ext cx="5256000" cy="32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sz="1800" b="1">
                <a:solidFill>
                  <a:srgbClr val="2B2B2B"/>
                </a:solidFill>
                <a:latin typeface="Microsoft YaHei"/>
                <a:ea typeface="Microsoft YaHei"/>
              </a:rPr>
              <a:t>60 秒创意版（11-10 前）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C809043-1679-4A48-8CD7-9355B9D516E7}"/>
              </a:ext>
            </a:extLst>
          </p:cNvPr>
          <p:cNvSpPr txBox="1"/>
          <p:nvPr/>
        </p:nvSpPr>
        <p:spPr>
          <a:xfrm>
            <a:off x="5940000" y="1062000"/>
            <a:ext cx="5472000" cy="32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sz="1800" b="1">
                <a:solidFill>
                  <a:srgbClr val="2B2B2B"/>
                </a:solidFill>
                <a:latin typeface="Microsoft YaHei"/>
                <a:ea typeface="Microsoft YaHei"/>
              </a:rPr>
              <a:t>3 分钟 DEMO 版（12-27）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600" y="1422000"/>
            <a:ext cx="5238000" cy="2106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5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50" b="1">
                <a:solidFill>
                  <a:srgbClr val="C00000"/>
                </a:solidFill>
                <a:latin typeface="Microsoft YaHei"/>
                <a:ea typeface="Microsoft YaHei"/>
              </a:rPr>
              <a:t>0–5s  </a:t>
            </a:r>
            <a:r>
              <a:rPr sz="1050" b="0">
                <a:solidFill>
                  <a:srgbClr val="2B2B2B"/>
                </a:solidFill>
                <a:latin typeface="Microsoft YaHei"/>
                <a:ea typeface="Microsoft YaHei"/>
              </a:rPr>
              <a:t>黑底白字：“AI 写的代码，你敢直接合并吗？”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5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50" b="1">
                <a:solidFill>
                  <a:srgbClr val="C00000"/>
                </a:solidFill>
                <a:latin typeface="Microsoft YaHei"/>
                <a:ea typeface="Microsoft YaHei"/>
              </a:rPr>
              <a:t>5–15s </a:t>
            </a:r>
            <a:r>
              <a:rPr sz="1050" b="0">
                <a:solidFill>
                  <a:srgbClr val="2B2B2B"/>
                </a:solidFill>
                <a:latin typeface="Microsoft YaHei"/>
                <a:ea typeface="Microsoft YaHei"/>
              </a:rPr>
              <a:t>CLI 输入一句话需求（FastAPI 待办：标签筛选 + 分页）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5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50" b="1">
                <a:solidFill>
                  <a:srgbClr val="C00000"/>
                </a:solidFill>
                <a:latin typeface="Microsoft YaHei"/>
                <a:ea typeface="Microsoft YaHei"/>
              </a:rPr>
              <a:t>15–30s</a:t>
            </a:r>
            <a:r>
              <a:rPr sz="1050" b="0">
                <a:solidFill>
                  <a:srgbClr val="2B2B2B"/>
                </a:solidFill>
                <a:latin typeface="Microsoft YaHei"/>
                <a:ea typeface="Microsoft YaHei"/>
              </a:rPr>
              <a:t>回显 6 条验收标准 → 两候选并行生成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5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50" b="1">
                <a:solidFill>
                  <a:srgbClr val="C00000"/>
                </a:solidFill>
                <a:latin typeface="Microsoft YaHei"/>
                <a:ea typeface="Microsoft YaHei"/>
              </a:rPr>
              <a:t>30–45s</a:t>
            </a:r>
            <a:r>
              <a:rPr sz="1050" b="0">
                <a:solidFill>
                  <a:srgbClr val="2B2B2B"/>
                </a:solidFill>
                <a:latin typeface="Microsoft YaHei"/>
                <a:ea typeface="Microsoft YaHei"/>
              </a:rPr>
              <a:t>真跑 pytest：A 红 4/6（A4/A6 失败）、B 绿 6/6（待实测）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5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50" b="1">
                <a:solidFill>
                  <a:srgbClr val="C00000"/>
                </a:solidFill>
                <a:latin typeface="Microsoft YaHei"/>
                <a:ea typeface="Microsoft YaHei"/>
              </a:rPr>
              <a:t>45–55s</a:t>
            </a:r>
            <a:r>
              <a:rPr sz="1050" b="0">
                <a:solidFill>
                  <a:srgbClr val="2B2B2B"/>
                </a:solidFill>
                <a:latin typeface="Microsoft YaHei"/>
                <a:ea typeface="Microsoft YaHei"/>
              </a:rPr>
              <a:t> 决策卡：推荐 B，理由指到测试输出；费用见账单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5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50" b="1">
                <a:solidFill>
                  <a:srgbClr val="C00000"/>
                </a:solidFill>
                <a:latin typeface="Microsoft YaHei"/>
                <a:ea typeface="Microsoft YaHei"/>
              </a:rPr>
              <a:t>55–60s</a:t>
            </a:r>
            <a:r>
              <a:rPr sz="1050" b="0">
                <a:solidFill>
                  <a:srgbClr val="2B2B2B"/>
                </a:solidFill>
                <a:latin typeface="Microsoft YaHei"/>
                <a:ea typeface="Microsoft YaHei"/>
              </a:rPr>
              <a:t> Slogan：PromptForge，一次选对，少返工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600" y="4104000"/>
            <a:ext cx="5238000" cy="187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5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50" b="0">
                <a:solidFill>
                  <a:srgbClr val="2B2B2B"/>
                </a:solidFill>
                <a:latin typeface="Microsoft YaHei"/>
                <a:ea typeface="Microsoft YaHei"/>
              </a:rPr>
              <a:t>不剪掉候选 A 失败画面：失败用例名必须出现在屏幕上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5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50" b="0">
                <a:solidFill>
                  <a:srgbClr val="2B2B2B"/>
                </a:solidFill>
                <a:latin typeface="Microsoft YaHei"/>
                <a:ea typeface="Microsoft YaHei"/>
              </a:rPr>
              <a:t>费用/耗时来自真实 token 统计，不能手填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5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50" b="0">
                <a:solidFill>
                  <a:srgbClr val="2B2B2B"/>
                </a:solidFill>
                <a:latin typeface="Microsoft YaHei"/>
                <a:ea typeface="Microsoft YaHei"/>
              </a:rPr>
              <a:t>录屏分辨率 1080p，命令行字号 ≥16pt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5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50" b="0">
                <a:solidFill>
                  <a:srgbClr val="2B2B2B"/>
                </a:solidFill>
                <a:latin typeface="Microsoft YaHei"/>
                <a:ea typeface="Microsoft YaHei"/>
              </a:rPr>
              <a:t>提前准备离线回放，网络故障可直接切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76000" y="1422000"/>
            <a:ext cx="5508000" cy="2106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0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00" b="1">
                <a:solidFill>
                  <a:srgbClr val="C00000"/>
                </a:solidFill>
                <a:latin typeface="Microsoft YaHei"/>
                <a:ea typeface="Microsoft YaHei"/>
              </a:rPr>
              <a:t>0:00–0:20  问题：</a:t>
            </a:r>
            <a:r>
              <a:rPr sz="1000" b="0">
                <a:solidFill>
                  <a:srgbClr val="2B2B2B"/>
                </a:solidFill>
                <a:latin typeface="Microsoft YaHei"/>
                <a:ea typeface="Microsoft YaHei"/>
              </a:rPr>
              <a:t>提示词方差大、单模型自评不可靠、返工贵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0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00" b="1">
                <a:solidFill>
                  <a:srgbClr val="C00000"/>
                </a:solidFill>
                <a:latin typeface="Microsoft YaHei"/>
                <a:ea typeface="Microsoft YaHei"/>
              </a:rPr>
              <a:t>0:20–0:50  输入：</a:t>
            </a:r>
            <a:r>
              <a:rPr sz="1000" b="0">
                <a:solidFill>
                  <a:srgbClr val="2B2B2B"/>
                </a:solidFill>
                <a:latin typeface="Microsoft YaHei"/>
                <a:ea typeface="Microsoft YaHei"/>
              </a:rPr>
              <a:t>一句话需求 → SRD 6 条验收标准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0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00" b="1">
                <a:solidFill>
                  <a:srgbClr val="C00000"/>
                </a:solidFill>
                <a:latin typeface="Microsoft YaHei"/>
                <a:ea typeface="Microsoft YaHei"/>
              </a:rPr>
              <a:t>0:50–1:40  执行：</a:t>
            </a:r>
            <a:r>
              <a:rPr sz="1000" b="0">
                <a:solidFill>
                  <a:srgbClr val="2B2B2B"/>
                </a:solidFill>
                <a:latin typeface="Microsoft YaHei"/>
                <a:ea typeface="Microsoft YaHei"/>
              </a:rPr>
              <a:t>两候选各写一版 FastAPI 接口，沙箱真跑，测试红绿滚动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0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00" b="1">
                <a:solidFill>
                  <a:srgbClr val="C00000"/>
                </a:solidFill>
                <a:latin typeface="Microsoft YaHei"/>
                <a:ea typeface="Microsoft YaHei"/>
              </a:rPr>
              <a:t>1:40–2:20  证据：</a:t>
            </a:r>
            <a:r>
              <a:rPr sz="1000" b="0">
                <a:solidFill>
                  <a:srgbClr val="2B2B2B"/>
                </a:solidFill>
                <a:latin typeface="Microsoft YaHei"/>
                <a:ea typeface="Microsoft YaHei"/>
              </a:rPr>
              <a:t>失败用例（A4 组合/A6 参数）、耗时、费用、评委分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0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00" b="1">
                <a:solidFill>
                  <a:srgbClr val="C00000"/>
                </a:solidFill>
                <a:latin typeface="Microsoft YaHei"/>
                <a:ea typeface="Microsoft YaHei"/>
              </a:rPr>
              <a:t>2:20–2:45  决策：</a:t>
            </a:r>
            <a:r>
              <a:rPr sz="1000" b="0">
                <a:solidFill>
                  <a:srgbClr val="2B2B2B"/>
                </a:solidFill>
                <a:latin typeface="Microsoft YaHei"/>
                <a:ea typeface="Microsoft YaHei"/>
              </a:rPr>
              <a:t>推荐 + 证据链 + 次优 + 成本账单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0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00" b="1">
                <a:solidFill>
                  <a:srgbClr val="C00000"/>
                </a:solidFill>
                <a:latin typeface="Microsoft YaHei"/>
                <a:ea typeface="Microsoft YaHei"/>
              </a:rPr>
              <a:t>2:45–3:00  收尾：</a:t>
            </a:r>
            <a:r>
              <a:rPr sz="1000" b="0">
                <a:solidFill>
                  <a:srgbClr val="2B2B2B"/>
                </a:solidFill>
                <a:latin typeface="Microsoft YaHei"/>
                <a:ea typeface="Microsoft YaHei"/>
              </a:rPr>
              <a:t>可复现、可扩展（WorkSwarm 集群）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0000" y="3726000"/>
            <a:ext cx="5472000" cy="28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</a:pPr>
            <a:r>
              <a:rPr sz="1800" b="1">
                <a:solidFill>
                  <a:srgbClr val="2B2B2B"/>
                </a:solidFill>
                <a:latin typeface="Microsoft YaHei"/>
                <a:ea typeface="Microsoft YaHei"/>
              </a:rPr>
              <a:t>兜底方案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76000" y="4104000"/>
            <a:ext cx="5508000" cy="187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0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00" b="0">
                <a:solidFill>
                  <a:srgbClr val="2B2B2B"/>
                </a:solidFill>
                <a:latin typeface="Microsoft YaHei"/>
                <a:ea typeface="Microsoft YaHei"/>
              </a:rPr>
              <a:t>模型 API 失败 → 缓存上一次真实结果回放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0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00" b="0">
                <a:solidFill>
                  <a:srgbClr val="2B2B2B"/>
                </a:solidFill>
                <a:latin typeface="Microsoft YaHei"/>
                <a:ea typeface="Microsoft YaHei"/>
              </a:rPr>
              <a:t>沙箱异常 → 本机 subprocess + 固定依赖锁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0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00" b="0">
                <a:solidFill>
                  <a:srgbClr val="2B2B2B"/>
                </a:solidFill>
                <a:latin typeface="Microsoft YaHei"/>
                <a:ea typeface="Microsoft YaHei"/>
              </a:rPr>
              <a:t>断网 → 本地录屏 + 证据回放，不假装实时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0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00" b="0">
                <a:solidFill>
                  <a:srgbClr val="2B2B2B"/>
                </a:solidFill>
                <a:latin typeface="Microsoft YaHei"/>
                <a:ea typeface="Microsoft YaHei"/>
              </a:rPr>
              <a:t>双备份：主演示机 + 备用机，提前彩排 ≥2 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副标题 1">
            <a:extLst>
              <a:ext uri="{FF2B5EF4-FFF2-40B4-BE49-F238E27FC236}">
                <a16:creationId xmlns:a16="http://schemas.microsoft.com/office/drawing/2014/main" id="{DFE061A5-89C1-4791-A5E4-A22684C29189}"/>
              </a:ext>
            </a:extLst>
          </p:cNvPr>
          <p:cNvSpPr txBox="1">
            <a:spLocks/>
          </p:cNvSpPr>
          <p:nvPr/>
        </p:nvSpPr>
        <p:spPr>
          <a:xfrm>
            <a:off x="345362" y="249186"/>
            <a:ext cx="10736446" cy="375990"/>
          </a:xfrm>
          <a:prstGeom prst="rect">
            <a:avLst/>
          </a:prstGeom>
        </p:spPr>
        <p:txBody>
          <a:bodyPr lIns="0" tIns="0" rIns="0" bIns="0" anchor="t" wrap="square">
            <a:noAutofit/>
          </a:bodyPr>
          <a:lstStyle>
            <a:lvl1pPr marL="0" indent="0" algn="l" defTabSz="1187323" rtl="0" eaLnBrk="1" latinLnBrk="0" hangingPunct="1">
              <a:lnSpc>
                <a:spcPts val="3429"/>
              </a:lnSpc>
              <a:spcBef>
                <a:spcPts val="0"/>
              </a:spcBef>
              <a:buFont typeface="Arial" panose="020B0604020202020204" pitchFamily="34" charset="0"/>
              <a:buNone/>
              <a:defRPr sz="3200" b="1" kern="1200" baseline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593662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5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7323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3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0986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4648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8309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1971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5634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49295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600" b="1">
                <a:solidFill>
                  <a:srgbClr val="C00000"/>
                </a:solidFill>
                <a:latin typeface="Microsoft YaHei"/>
                <a:ea typeface="Microsoft YaHei"/>
              </a:rPr>
              <a:t>真实证据、指标与兜底（不造假）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1412FABC-FF23-43D9-BC0E-FC6FB3E551E7}"/>
              </a:ext>
            </a:extLst>
          </p:cNvPr>
          <p:cNvCxnSpPr>
            <a:cxnSpLocks/>
            <a:stCxn id="6" idx="1"/>
            <a:endCxn id="6" idx="3"/>
          </p:cNvCxnSpPr>
          <p:nvPr/>
        </p:nvCxnSpPr>
        <p:spPr>
          <a:xfrm>
            <a:off x="88900" y="3607496"/>
            <a:ext cx="11950700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BE8267FD-BF60-4A01-83C9-9929DF12CFCE}"/>
              </a:ext>
            </a:extLst>
          </p:cNvPr>
          <p:cNvCxnSpPr>
            <a:cxnSpLocks/>
          </p:cNvCxnSpPr>
          <p:nvPr/>
        </p:nvCxnSpPr>
        <p:spPr>
          <a:xfrm>
            <a:off x="5795376" y="3623415"/>
            <a:ext cx="0" cy="2739285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83F2A6C2-0B11-48B1-B070-FF9968A32862}"/>
              </a:ext>
            </a:extLst>
          </p:cNvPr>
          <p:cNvSpPr/>
          <p:nvPr/>
        </p:nvSpPr>
        <p:spPr>
          <a:xfrm>
            <a:off x="88900" y="889348"/>
            <a:ext cx="11950700" cy="5436296"/>
          </a:xfrm>
          <a:prstGeom prst="roundRect">
            <a:avLst>
              <a:gd name="adj" fmla="val 8257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1B0417D-87D1-435A-A19A-C07FC4D39D6F}"/>
              </a:ext>
            </a:extLst>
          </p:cNvPr>
          <p:cNvSpPr txBox="1"/>
          <p:nvPr/>
        </p:nvSpPr>
        <p:spPr>
          <a:xfrm>
            <a:off x="415677" y="3763412"/>
            <a:ext cx="5256000" cy="32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sz="1600" b="1">
                <a:solidFill>
                  <a:srgbClr val="2B2B2B"/>
                </a:solidFill>
                <a:latin typeface="Microsoft YaHei"/>
                <a:ea typeface="Microsoft YaHei"/>
              </a:rPr>
              <a:t>对外口径（数据规则）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3900522-0BC3-4410-943D-64E58AD7FB10}"/>
              </a:ext>
            </a:extLst>
          </p:cNvPr>
          <p:cNvSpPr txBox="1"/>
          <p:nvPr/>
        </p:nvSpPr>
        <p:spPr>
          <a:xfrm>
            <a:off x="300624" y="1023604"/>
            <a:ext cx="5256000" cy="32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sz="1600" b="1">
                <a:solidFill>
                  <a:srgbClr val="2B2B2B"/>
                </a:solidFill>
                <a:latin typeface="Microsoft YaHei"/>
                <a:ea typeface="Microsoft YaHei"/>
              </a:rPr>
              <a:t>Demo 必须展示的真实证据（v0.1）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C809043-1679-4A48-8CD7-9355B9D516E7}"/>
              </a:ext>
            </a:extLst>
          </p:cNvPr>
          <p:cNvSpPr txBox="1"/>
          <p:nvPr/>
        </p:nvSpPr>
        <p:spPr>
          <a:xfrm>
            <a:off x="5940000" y="1062000"/>
            <a:ext cx="5472000" cy="32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sz="1600" b="1">
                <a:solidFill>
                  <a:srgbClr val="2B2B2B"/>
                </a:solidFill>
                <a:latin typeface="Microsoft YaHei"/>
                <a:ea typeface="Microsoft YaHei"/>
              </a:rPr>
              <a:t>兜底与合规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600" y="1350000"/>
            <a:ext cx="5238000" cy="216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5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50" b="1">
                <a:solidFill>
                  <a:srgbClr val="0070C0"/>
                </a:solidFill>
                <a:latin typeface="Microsoft YaHei"/>
                <a:ea typeface="Microsoft YaHei"/>
              </a:rPr>
              <a:t>pytest 通过率：</a:t>
            </a:r>
            <a:r>
              <a:rPr sz="1050" b="0">
                <a:solidFill>
                  <a:srgbClr val="2B2B2B"/>
                </a:solidFill>
                <a:latin typeface="Microsoft YaHei"/>
                <a:ea typeface="Microsoft YaHei"/>
              </a:rPr>
              <a:t>6 条用例逐条红绿，失败用例名可见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5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50" b="1">
                <a:solidFill>
                  <a:srgbClr val="0070C0"/>
                </a:solidFill>
                <a:latin typeface="Microsoft YaHei"/>
                <a:ea typeface="Microsoft YaHei"/>
              </a:rPr>
              <a:t>lint / 编译：</a:t>
            </a:r>
            <a:r>
              <a:rPr sz="1050" b="0">
                <a:solidFill>
                  <a:srgbClr val="2B2B2B"/>
                </a:solidFill>
                <a:latin typeface="Microsoft YaHei"/>
                <a:ea typeface="Microsoft YaHei"/>
              </a:rPr>
              <a:t>ruff + py_compile，作为质量门槛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5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50" b="1">
                <a:solidFill>
                  <a:srgbClr val="0070C0"/>
                </a:solidFill>
                <a:latin typeface="Microsoft YaHei"/>
                <a:ea typeface="Microsoft YaHei"/>
              </a:rPr>
              <a:t>执行耗时：</a:t>
            </a:r>
            <a:r>
              <a:rPr sz="1050" b="0">
                <a:solidFill>
                  <a:srgbClr val="2B2B2B"/>
                </a:solidFill>
                <a:latin typeface="Microsoft YaHei"/>
                <a:ea typeface="Microsoft YaHei"/>
              </a:rPr>
              <a:t>沙箱墙钟时间，方案间可比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5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50" b="1">
                <a:solidFill>
                  <a:srgbClr val="0070C0"/>
                </a:solidFill>
                <a:latin typeface="Microsoft YaHei"/>
                <a:ea typeface="Microsoft YaHei"/>
              </a:rPr>
              <a:t>token 费用：</a:t>
            </a:r>
            <a:r>
              <a:rPr sz="1050" b="0">
                <a:solidFill>
                  <a:srgbClr val="2B2B2B"/>
                </a:solidFill>
                <a:latin typeface="Microsoft YaHei"/>
                <a:ea typeface="Microsoft YaHei"/>
              </a:rPr>
              <a:t>真实 usage × 价格快照，写入账单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5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50" b="1">
                <a:solidFill>
                  <a:srgbClr val="0070C0"/>
                </a:solidFill>
                <a:latin typeface="Microsoft YaHei"/>
                <a:ea typeface="Microsoft YaHei"/>
              </a:rPr>
              <a:t>评委分：</a:t>
            </a:r>
            <a:r>
              <a:rPr sz="1050" b="0">
                <a:solidFill>
                  <a:srgbClr val="2B2B2B"/>
                </a:solidFill>
                <a:latin typeface="Microsoft YaHei"/>
                <a:ea typeface="Microsoft YaHei"/>
              </a:rPr>
              <a:t>1 个异构模型盲评（v0.1），仅用于解释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600" y="4031999"/>
            <a:ext cx="5238000" cy="194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5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50" b="0">
                <a:solidFill>
                  <a:srgbClr val="2B2B2B"/>
                </a:solidFill>
                <a:latin typeface="Microsoft YaHei"/>
                <a:ea typeface="Microsoft YaHei"/>
              </a:rPr>
              <a:t>只引用真实日志；演示前预置数据必须标注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5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50" b="0">
                <a:solidFill>
                  <a:srgbClr val="2B2B2B"/>
                </a:solidFill>
                <a:latin typeface="Microsoft YaHei"/>
                <a:ea typeface="Microsoft YaHei"/>
              </a:rPr>
              <a:t>“预期剧情/预期分数”一律标“待实测”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5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50" b="0">
                <a:solidFill>
                  <a:srgbClr val="2B2B2B"/>
                </a:solidFill>
                <a:latin typeface="Microsoft YaHei"/>
                <a:ea typeface="Microsoft YaHei"/>
              </a:rPr>
              <a:t>不剪掉失败画面；不修改测试用例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5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50" b="0">
                <a:solidFill>
                  <a:srgbClr val="2B2B2B"/>
                </a:solidFill>
                <a:latin typeface="Microsoft YaHei"/>
                <a:ea typeface="Microsoft YaHei"/>
              </a:rPr>
              <a:t>证据包 + 原始日志可复算，随仓库提交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76000" y="1350000"/>
            <a:ext cx="5508000" cy="216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0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00" b="0">
                <a:solidFill>
                  <a:srgbClr val="2B2B2B"/>
                </a:solidFill>
                <a:latin typeface="Microsoft YaHei"/>
                <a:ea typeface="Microsoft YaHei"/>
              </a:rPr>
              <a:t>模型调用：仅官方 API / 云服务 / 本地部署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0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00" b="0">
                <a:solidFill>
                  <a:srgbClr val="2B2B2B"/>
                </a:solidFill>
                <a:latin typeface="Microsoft YaHei"/>
                <a:ea typeface="Microsoft YaHei"/>
              </a:rPr>
              <a:t>API 限流/超时：指数退避 + 备用模型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0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00" b="0">
                <a:solidFill>
                  <a:srgbClr val="2B2B2B"/>
                </a:solidFill>
                <a:latin typeface="Microsoft YaHei"/>
                <a:ea typeface="Microsoft YaHei"/>
              </a:rPr>
              <a:t>沙箱失败：本机 subprocess + 依赖锁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0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00" b="0">
                <a:solidFill>
                  <a:srgbClr val="2B2B2B"/>
                </a:solidFill>
                <a:latin typeface="Microsoft YaHei"/>
                <a:ea typeface="Microsoft YaHei"/>
              </a:rPr>
              <a:t>现场断网：缓存证据 + 录屏回放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0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00" b="0">
                <a:solidFill>
                  <a:srgbClr val="2B2B2B"/>
                </a:solidFill>
                <a:latin typeface="Microsoft YaHei"/>
                <a:ea typeface="Microsoft YaHei"/>
              </a:rPr>
              <a:t>演示数据脱敏；不泄露密钥/内部地址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0000" y="3636000"/>
            <a:ext cx="5472000" cy="28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</a:pPr>
            <a:r>
              <a:rPr sz="1600" b="1">
                <a:solidFill>
                  <a:srgbClr val="2B2B2B"/>
                </a:solidFill>
                <a:latin typeface="Microsoft YaHei"/>
                <a:ea typeface="Microsoft YaHei"/>
              </a:rPr>
              <a:t>DoD（Demo v0.1 完成标准）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76000" y="4031999"/>
            <a:ext cx="5508000" cy="194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0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00" b="0">
                <a:solidFill>
                  <a:srgbClr val="2B2B2B"/>
                </a:solidFill>
                <a:latin typeface="Microsoft YaHei"/>
                <a:ea typeface="Microsoft YaHei"/>
              </a:rPr>
              <a:t>一条命令跑通：需求 → 2 候选 → 测试 → 证据 → 决策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0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00" b="0">
                <a:solidFill>
                  <a:srgbClr val="2B2B2B"/>
                </a:solidFill>
                <a:latin typeface="Microsoft YaHei"/>
                <a:ea typeface="Microsoft YaHei"/>
              </a:rPr>
              <a:t>总耗时 ≤90 秒（超时则缓存回放）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0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00" b="0">
                <a:solidFill>
                  <a:srgbClr val="2B2B2B"/>
                </a:solidFill>
                <a:latin typeface="Microsoft YaHei"/>
                <a:ea typeface="Microsoft YaHei"/>
              </a:rPr>
              <a:t>输出 evidence.json + decision.md，可复算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0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00" b="0">
                <a:solidFill>
                  <a:srgbClr val="2B2B2B"/>
                </a:solidFill>
                <a:latin typeface="Microsoft YaHei"/>
                <a:ea typeface="Microsoft YaHei"/>
              </a:rPr>
              <a:t>60 秒真实录屏 + 离线可回放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5600" y="6156000"/>
            <a:ext cx="11160000" cy="28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595959"/>
                </a:solidFill>
                <a:latin typeface="Microsoft YaHei"/>
                <a:ea typeface="Microsoft YaHei"/>
              </a:rPr>
              <a:t>代码仓库：https://github.com/dissill/LLM ｜ 团队：deforoout ｜ 数据规则：真实日志为准，未实测不写结论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6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End pag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8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639</Words>
  <Application>Microsoft Office PowerPoint</Application>
  <PresentationFormat>宽屏</PresentationFormat>
  <Paragraphs>101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7</vt:i4>
      </vt:variant>
    </vt:vector>
  </HeadingPairs>
  <TitlesOfParts>
    <vt:vector size="17" baseType="lpstr">
      <vt:lpstr>等线</vt:lpstr>
      <vt:lpstr>微软雅黑</vt:lpstr>
      <vt:lpstr>微软雅黑</vt:lpstr>
      <vt:lpstr>Arial</vt:lpstr>
      <vt:lpstr>Calibri</vt:lpstr>
      <vt:lpstr>Calibri Light</vt:lpstr>
      <vt:lpstr>Georgia</vt:lpstr>
      <vt:lpstr>Office 主题​​</vt:lpstr>
      <vt:lpstr>6_章节页</vt:lpstr>
      <vt:lpstr>End page</vt:lpstr>
      <vt:lpstr>openJiuwen 创意大赛提交模板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openJiuwen xxxx</dc:title>
  <dc:creator>zhangmingyang (A)</dc:creator>
  <cp:lastModifiedBy>zhongzhiyin</cp:lastModifiedBy>
  <cp:revision>3</cp:revision>
  <dcterms:created xsi:type="dcterms:W3CDTF">2026-04-09T09:34:01Z</dcterms:created>
  <dcterms:modified xsi:type="dcterms:W3CDTF">2026-09-09T08:08:05Z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2052-0.0.0.0</vt:lpwstr>
  </property>
</Properties>
</file>