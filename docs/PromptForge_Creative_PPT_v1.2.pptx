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3" r:id="rId3"/>
  </p:sldMasterIdLst>
  <p:notesMasterIdLst>
    <p:notesMasterId r:id="rId11"/>
  </p:notesMasterIdLst>
  <p:sldIdLst>
    <p:sldId id="256" r:id="rId4"/>
    <p:sldId id="427" r:id="rId5"/>
    <p:sldId id="422" r:id="rId6"/>
    <p:sldId id="424" r:id="rId7"/>
    <p:sldId id="428" r:id="rId10"/>
    <p:sldId id="429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28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9" Type="http://schemas.openxmlformats.org/officeDocument/2006/relationships/slide" Target="slides/slide6.xml"/><Relationship Id="rId10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0EBEBA-E528-4FAE-BE33-4BA9ECD0BE49}" type="datetimeFigureOut">
              <a:rPr lang="zh-CN" altLang="en-US" smtClean="0"/>
              <a:t>2026/9/9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6F69A5-864A-4B9A-828B-07E61DB48DC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667" b="11081"/>
          <a:stretch>
            <a:fillRect/>
          </a:stretch>
        </p:blipFill>
        <p:spPr>
          <a:xfrm>
            <a:off x="0" y="731519"/>
            <a:ext cx="12192000" cy="5366583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66700" y="2396357"/>
            <a:ext cx="6629400" cy="1674857"/>
          </a:xfrm>
          <a:prstGeom prst="rect">
            <a:avLst/>
          </a:prstGeom>
        </p:spPr>
        <p:txBody>
          <a:bodyPr anchor="ctr"/>
          <a:lstStyle>
            <a:lvl1pPr algn="l">
              <a:defRPr sz="32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66700" y="4761189"/>
            <a:ext cx="4488180" cy="799310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1033217" y="1843091"/>
            <a:ext cx="10118107" cy="3013725"/>
          </a:xfrm>
          <a:prstGeom prst="rect">
            <a:avLst/>
          </a:prstGeom>
        </p:spPr>
        <p:txBody>
          <a:bodyPr tIns="90000" bIns="90000"/>
          <a:lstStyle>
            <a:lvl1pPr marL="412750" indent="-398780">
              <a:lnSpc>
                <a:spcPct val="70000"/>
              </a:lnSpc>
              <a:buFont typeface="+mj-lt"/>
              <a:buAutoNum type="arabicPeriod"/>
              <a:defRPr sz="2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12750" indent="-398780">
              <a:buFont typeface="+mj-lt"/>
              <a:buAutoNum type="arabicPeriod"/>
              <a:defRPr/>
            </a:lvl2pPr>
            <a:lvl3pPr marL="13970" indent="0">
              <a:buFont typeface="+mj-lt"/>
              <a:buNone/>
              <a:defRPr sz="22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970" indent="0">
              <a:buFont typeface="+mj-lt"/>
              <a:buNone/>
              <a:defRPr sz="22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3970" indent="0">
              <a:buFont typeface="+mj-lt"/>
              <a:buNone/>
              <a:defRPr sz="22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altLang="zh-CN" dirty="0"/>
          </a:p>
        </p:txBody>
      </p:sp>
      <p:cxnSp>
        <p:nvCxnSpPr>
          <p:cNvPr id="3" name="直线连接符 14"/>
          <p:cNvCxnSpPr/>
          <p:nvPr userDrawn="1"/>
        </p:nvCxnSpPr>
        <p:spPr>
          <a:xfrm flipH="1">
            <a:off x="1029516" y="1349255"/>
            <a:ext cx="885621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文本框 16"/>
          <p:cNvSpPr txBox="1"/>
          <p:nvPr userDrawn="1"/>
        </p:nvSpPr>
        <p:spPr>
          <a:xfrm>
            <a:off x="918559" y="630376"/>
            <a:ext cx="1147037" cy="6535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目录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8890" y="456134"/>
            <a:ext cx="10736446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2400" b="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725" indent="0" algn="ctr">
              <a:buNone/>
              <a:defRPr sz="2595"/>
            </a:lvl2pPr>
            <a:lvl3pPr marL="1186180" indent="0" algn="ctr">
              <a:buNone/>
              <a:defRPr sz="2335"/>
            </a:lvl3pPr>
            <a:lvl4pPr marL="1779270" indent="0" algn="ctr">
              <a:buNone/>
              <a:defRPr sz="2080"/>
            </a:lvl4pPr>
            <a:lvl5pPr marL="2372995" indent="0" algn="ctr">
              <a:buNone/>
              <a:defRPr sz="2080"/>
            </a:lvl5pPr>
            <a:lvl6pPr marL="2966085" indent="0" algn="ctr">
              <a:buNone/>
              <a:defRPr sz="2080"/>
            </a:lvl6pPr>
            <a:lvl7pPr marL="3559175" indent="0" algn="ctr">
              <a:buNone/>
              <a:defRPr sz="2080"/>
            </a:lvl7pPr>
            <a:lvl8pPr marL="4151630" indent="0" algn="ctr">
              <a:buNone/>
              <a:defRPr sz="2080"/>
            </a:lvl8pPr>
            <a:lvl9pPr marL="4745355" indent="0" algn="ctr">
              <a:buNone/>
              <a:defRPr sz="2080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0" hasCustomPrompt="1"/>
          </p:nvPr>
        </p:nvSpPr>
        <p:spPr>
          <a:xfrm>
            <a:off x="736622" y="1501993"/>
            <a:ext cx="10729364" cy="4690459"/>
          </a:xfrm>
          <a:prstGeom prst="rect">
            <a:avLst/>
          </a:prstGeom>
        </p:spPr>
        <p:txBody>
          <a:bodyPr lIns="0" tIns="0" rIns="0" bIns="0"/>
          <a:lstStyle>
            <a:lvl1pPr marL="12065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5865" algn="ctr"/>
              </a:tabLst>
              <a:defRPr sz="18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525780" indent="-170815">
              <a:buFont typeface="Arial" panose="020B0604020202020204" pitchFamily="34" charset="0"/>
              <a:buChar char="•"/>
              <a:tabLst>
                <a:tab pos="1205865" algn="ctr"/>
              </a:tabLst>
              <a:defRPr sz="1300" baseline="0"/>
            </a:lvl2pPr>
            <a:lvl3pPr marL="525780" indent="-170815">
              <a:buFont typeface="Arial" panose="020B0604020202020204" pitchFamily="34" charset="0"/>
              <a:buChar char="•"/>
              <a:tabLst>
                <a:tab pos="1205865" algn="ctr"/>
              </a:tabLst>
              <a:defRPr sz="1300" baseline="0"/>
            </a:lvl3pPr>
            <a:lvl4pPr marL="525780" indent="-170815">
              <a:buFont typeface="Arial" panose="020B0604020202020204" pitchFamily="34" charset="0"/>
              <a:buChar char="•"/>
              <a:tabLst>
                <a:tab pos="1205865" algn="ctr"/>
              </a:tabLst>
              <a:defRPr sz="1300" baseline="0"/>
            </a:lvl4pPr>
            <a:lvl5pPr marL="525780" indent="-170815">
              <a:buFont typeface="Arial" panose="020B0604020202020204" pitchFamily="34" charset="0"/>
              <a:buChar char="•"/>
              <a:tabLst>
                <a:tab pos="1205865" algn="ctr"/>
              </a:tabLst>
              <a:defRPr sz="1300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08460" y="284781"/>
            <a:ext cx="10736446" cy="37599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3429"/>
              </a:lnSpc>
              <a:spcBef>
                <a:spcPts val="0"/>
              </a:spcBef>
              <a:buNone/>
              <a:defRPr sz="3200" b="1" baseline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662" indent="0" algn="ctr">
              <a:buNone/>
              <a:defRPr sz="2597"/>
            </a:lvl2pPr>
            <a:lvl3pPr marL="1187323" indent="0" algn="ctr">
              <a:buNone/>
              <a:defRPr sz="2337"/>
            </a:lvl3pPr>
            <a:lvl4pPr marL="1780986" indent="0" algn="ctr">
              <a:buNone/>
              <a:defRPr sz="2078"/>
            </a:lvl4pPr>
            <a:lvl5pPr marL="2374648" indent="0" algn="ctr">
              <a:buNone/>
              <a:defRPr sz="2078"/>
            </a:lvl5pPr>
            <a:lvl6pPr marL="2968309" indent="0" algn="ctr">
              <a:buNone/>
              <a:defRPr sz="2078"/>
            </a:lvl6pPr>
            <a:lvl7pPr marL="3561971" indent="0" algn="ctr">
              <a:buNone/>
              <a:defRPr sz="2078"/>
            </a:lvl7pPr>
            <a:lvl8pPr marL="4155634" indent="0" algn="ctr">
              <a:buNone/>
              <a:defRPr sz="2078"/>
            </a:lvl8pPr>
            <a:lvl9pPr marL="4749295" indent="0" algn="ctr">
              <a:buNone/>
              <a:defRPr sz="2078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48821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867858-2669-597E-C783-B470BD6D29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B82273E-6DE7-14C0-75BF-DC711DBDCA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69C73CA-6EB6-82F0-72B5-43E11CC83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19447-A5E6-4AF1-B91C-E41E669677F1}" type="datetimeFigureOut">
              <a:rPr lang="zh-CN" altLang="en-US" smtClean="0"/>
              <a:t>2026/9/9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EB28757-E571-9327-D531-9F5EAF4AE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1F23CA6-8305-A5EE-E436-19C3496A6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AE1A8-FC57-4C57-A899-A7388D8BB8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3063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 pag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56906" y="2856476"/>
            <a:ext cx="3919502" cy="830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3765" fontAlgn="auto">
              <a:spcBef>
                <a:spcPts val="0"/>
              </a:spcBef>
              <a:spcAft>
                <a:spcPts val="0"/>
              </a:spcAft>
            </a:pPr>
            <a:r>
              <a:rPr lang="en-US" sz="4800" b="1" dirty="0">
                <a:solidFill>
                  <a:srgbClr val="175CFE"/>
                </a:solidFill>
                <a:latin typeface="Arial" panose="020B0604020202020204"/>
                <a:ea typeface="+mn-ea"/>
              </a:rPr>
              <a:t>Thank you.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theme" Target="../theme/theme2.xml"/><Relationship Id="rId6" Type="http://schemas.openxmlformats.org/officeDocument/2006/relationships/image" Target="../media/image2.png"/><Relationship Id="rId7" Type="http://schemas.openxmlformats.org/officeDocument/2006/relationships/image" Target="../media/image3.pn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theme" Target="../theme/theme3.xml"/><Relationship Id="rId3" Type="http://schemas.openxmlformats.org/officeDocument/2006/relationships/image" Target="../media/image4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733845" y="6526023"/>
            <a:ext cx="49953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2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8" name="Group 87"/>
          <p:cNvGrpSpPr>
            <a:grpSpLocks noChangeAspect="1"/>
          </p:cNvGrpSpPr>
          <p:nvPr userDrawn="1"/>
        </p:nvGrpSpPr>
        <p:grpSpPr>
          <a:xfrm>
            <a:off x="12285671" y="2625392"/>
            <a:ext cx="1967204" cy="4233515"/>
            <a:chOff x="5343885" y="-48857"/>
            <a:chExt cx="3271316" cy="7037279"/>
          </a:xfrm>
        </p:grpSpPr>
        <p:sp>
          <p:nvSpPr>
            <p:cNvPr id="89" name="矩形 13"/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196/0/84</a:t>
              </a:r>
            </a:p>
          </p:txBody>
        </p:sp>
        <p:sp>
          <p:nvSpPr>
            <p:cNvPr id="90" name="文本框 15"/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公司辅助色</a:t>
              </a:r>
            </a:p>
          </p:txBody>
        </p:sp>
        <p:sp>
          <p:nvSpPr>
            <p:cNvPr id="91" name="矩形 13"/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203/55/120</a:t>
              </a:r>
            </a:p>
          </p:txBody>
        </p:sp>
        <p:sp>
          <p:nvSpPr>
            <p:cNvPr id="92" name="矩形 13"/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237/109/0</a:t>
              </a:r>
            </a:p>
          </p:txBody>
        </p:sp>
        <p:sp>
          <p:nvSpPr>
            <p:cNvPr id="93" name="矩形 13"/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6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153/54/54</a:t>
              </a:r>
            </a:p>
          </p:txBody>
        </p:sp>
        <p:sp>
          <p:nvSpPr>
            <p:cNvPr id="94" name="矩形 13"/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98/178/48</a:t>
              </a:r>
            </a:p>
          </p:txBody>
        </p:sp>
        <p:sp>
          <p:nvSpPr>
            <p:cNvPr id="95" name="矩形 13"/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242/137/68</a:t>
              </a:r>
            </a:p>
          </p:txBody>
        </p:sp>
        <p:sp>
          <p:nvSpPr>
            <p:cNvPr id="96" name="矩形 13"/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199/0/11  </a:t>
              </a:r>
            </a:p>
          </p:txBody>
        </p:sp>
        <p:sp>
          <p:nvSpPr>
            <p:cNvPr id="97" name="文本框 15"/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/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200/16/46  </a:t>
              </a:r>
            </a:p>
          </p:txBody>
        </p:sp>
        <p:sp>
          <p:nvSpPr>
            <p:cNvPr id="99" name="矩形 13"/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127/0/1</a:t>
              </a:r>
            </a:p>
          </p:txBody>
        </p:sp>
        <p:sp>
          <p:nvSpPr>
            <p:cNvPr id="100" name="矩形 13"/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52/200/0</a:t>
              </a:r>
            </a:p>
          </p:txBody>
        </p:sp>
        <p:sp>
          <p:nvSpPr>
            <p:cNvPr id="101" name="矩形 13"/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48/181/197</a:t>
              </a:r>
            </a:p>
          </p:txBody>
        </p:sp>
        <p:sp>
          <p:nvSpPr>
            <p:cNvPr id="102" name="矩形 13"/>
            <p:cNvSpPr/>
            <p:nvPr userDrawn="1"/>
          </p:nvSpPr>
          <p:spPr>
            <a:xfrm>
              <a:off x="6184543" y="4866463"/>
              <a:ext cx="791510" cy="664398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129/193/95</a:t>
              </a:r>
            </a:p>
          </p:txBody>
        </p:sp>
        <p:sp>
          <p:nvSpPr>
            <p:cNvPr id="103" name="矩形 13"/>
            <p:cNvSpPr/>
            <p:nvPr userDrawn="1"/>
          </p:nvSpPr>
          <p:spPr>
            <a:xfrm>
              <a:off x="6182308" y="4134866"/>
              <a:ext cx="791510" cy="664398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253/211/81</a:t>
              </a:r>
            </a:p>
          </p:txBody>
        </p:sp>
        <p:sp>
          <p:nvSpPr>
            <p:cNvPr id="104" name="矩形 13"/>
            <p:cNvSpPr/>
            <p:nvPr userDrawn="1"/>
          </p:nvSpPr>
          <p:spPr>
            <a:xfrm>
              <a:off x="6177324" y="5596166"/>
              <a:ext cx="791510" cy="664398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86/196/210</a:t>
              </a:r>
            </a:p>
          </p:txBody>
        </p:sp>
        <p:sp>
          <p:nvSpPr>
            <p:cNvPr id="105" name="矩形 13"/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211/57/65</a:t>
              </a:r>
            </a:p>
          </p:txBody>
        </p:sp>
        <p:sp>
          <p:nvSpPr>
            <p:cNvPr id="106" name="矩形 13"/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211/56/89</a:t>
              </a:r>
            </a:p>
          </p:txBody>
        </p:sp>
        <p:sp>
          <p:nvSpPr>
            <p:cNvPr id="107" name="矩形 13"/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221/128/170</a:t>
              </a:r>
            </a:p>
          </p:txBody>
        </p:sp>
        <p:sp>
          <p:nvSpPr>
            <p:cNvPr id="108" name="矩形 13"/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6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191/128/130</a:t>
              </a:r>
            </a:p>
          </p:txBody>
        </p:sp>
        <p:sp>
          <p:nvSpPr>
            <p:cNvPr id="109" name="矩形 13"/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246/183/140</a:t>
              </a:r>
            </a:p>
          </p:txBody>
        </p:sp>
        <p:sp>
          <p:nvSpPr>
            <p:cNvPr id="110" name="矩形 13"/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176/216/156</a:t>
              </a:r>
            </a:p>
          </p:txBody>
        </p:sp>
        <p:sp>
          <p:nvSpPr>
            <p:cNvPr id="111" name="矩形 13"/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253/227/181</a:t>
              </a:r>
            </a:p>
          </p:txBody>
        </p:sp>
        <p:sp>
          <p:nvSpPr>
            <p:cNvPr id="112" name="矩形 13"/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148/218/226</a:t>
              </a:r>
            </a:p>
          </p:txBody>
        </p:sp>
        <p:sp>
          <p:nvSpPr>
            <p:cNvPr id="113" name="矩形 13"/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226/129/137</a:t>
              </a:r>
            </a:p>
          </p:txBody>
        </p:sp>
        <p:sp>
          <p:nvSpPr>
            <p:cNvPr id="114" name="矩形 13"/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226/129/152</a:t>
              </a:r>
            </a:p>
          </p:txBody>
        </p:sp>
        <p:sp>
          <p:nvSpPr>
            <p:cNvPr id="115" name="矩形 13"/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235/179/204</a:t>
              </a:r>
            </a:p>
          </p:txBody>
        </p:sp>
        <p:sp>
          <p:nvSpPr>
            <p:cNvPr id="116" name="矩形 13"/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6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216/179/179</a:t>
              </a:r>
            </a:p>
          </p:txBody>
        </p:sp>
        <p:sp>
          <p:nvSpPr>
            <p:cNvPr id="117" name="矩形 13"/>
            <p:cNvSpPr/>
            <p:nvPr/>
          </p:nvSpPr>
          <p:spPr>
            <a:xfrm>
              <a:off x="7811114" y="3415851"/>
              <a:ext cx="791510" cy="664398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250/211/187</a:t>
              </a:r>
            </a:p>
          </p:txBody>
        </p:sp>
        <p:sp>
          <p:nvSpPr>
            <p:cNvPr id="118" name="矩形 13"/>
            <p:cNvSpPr/>
            <p:nvPr/>
          </p:nvSpPr>
          <p:spPr>
            <a:xfrm>
              <a:off x="7820945" y="4866463"/>
              <a:ext cx="791510" cy="664398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208/232/196</a:t>
              </a:r>
            </a:p>
          </p:txBody>
        </p:sp>
        <p:sp>
          <p:nvSpPr>
            <p:cNvPr id="119" name="矩形 13"/>
            <p:cNvSpPr/>
            <p:nvPr/>
          </p:nvSpPr>
          <p:spPr>
            <a:xfrm>
              <a:off x="7818707" y="4134866"/>
              <a:ext cx="791510" cy="664398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254/238/193</a:t>
              </a:r>
            </a:p>
          </p:txBody>
        </p:sp>
        <p:sp>
          <p:nvSpPr>
            <p:cNvPr id="120" name="矩形 13"/>
            <p:cNvSpPr/>
            <p:nvPr/>
          </p:nvSpPr>
          <p:spPr>
            <a:xfrm>
              <a:off x="7823691" y="5596166"/>
              <a:ext cx="791510" cy="664398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190/233/238</a:t>
              </a:r>
            </a:p>
          </p:txBody>
        </p:sp>
        <p:sp>
          <p:nvSpPr>
            <p:cNvPr id="121" name="矩形 13"/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239/178/184</a:t>
              </a:r>
            </a:p>
          </p:txBody>
        </p:sp>
        <p:sp>
          <p:nvSpPr>
            <p:cNvPr id="122" name="矩形 13"/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238/179/193</a:t>
              </a:r>
            </a:p>
          </p:txBody>
        </p:sp>
        <p:sp>
          <p:nvSpPr>
            <p:cNvPr id="123" name="矩形 13"/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0/0/0</a:t>
              </a:r>
            </a:p>
          </p:txBody>
        </p:sp>
        <p:sp>
          <p:nvSpPr>
            <p:cNvPr id="124" name="矩形 13"/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89/87/87</a:t>
              </a:r>
            </a:p>
          </p:txBody>
        </p:sp>
        <p:sp>
          <p:nvSpPr>
            <p:cNvPr id="125" name="矩形 13"/>
            <p:cNvSpPr/>
            <p:nvPr userDrawn="1"/>
          </p:nvSpPr>
          <p:spPr>
            <a:xfrm>
              <a:off x="6445335" y="6324024"/>
              <a:ext cx="513579" cy="664398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</a:t>
              </a:r>
            </a:p>
          </p:txBody>
        </p:sp>
        <p:sp>
          <p:nvSpPr>
            <p:cNvPr id="126" name="矩形 13"/>
            <p:cNvSpPr/>
            <p:nvPr userDrawn="1"/>
          </p:nvSpPr>
          <p:spPr>
            <a:xfrm>
              <a:off x="7003279" y="6324024"/>
              <a:ext cx="513579" cy="664398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</a:t>
              </a:r>
            </a:p>
          </p:txBody>
        </p:sp>
        <p:sp>
          <p:nvSpPr>
            <p:cNvPr id="127" name="矩形 13"/>
            <p:cNvSpPr/>
            <p:nvPr userDrawn="1"/>
          </p:nvSpPr>
          <p:spPr>
            <a:xfrm>
              <a:off x="7551547" y="6324024"/>
              <a:ext cx="513579" cy="664398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221</a:t>
              </a:r>
            </a:p>
          </p:txBody>
        </p:sp>
        <p:sp>
          <p:nvSpPr>
            <p:cNvPr id="128" name="矩形 13"/>
            <p:cNvSpPr/>
            <p:nvPr userDrawn="1"/>
          </p:nvSpPr>
          <p:spPr>
            <a:xfrm>
              <a:off x="8098559" y="6324024"/>
              <a:ext cx="513579" cy="6643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</a:t>
              </a:r>
            </a:p>
          </p:txBody>
        </p:sp>
      </p:grpSp>
      <p:pic>
        <p:nvPicPr>
          <p:cNvPr id="49" name="图片 48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9233" y="6477212"/>
            <a:ext cx="252000" cy="252000"/>
          </a:xfrm>
          <a:prstGeom prst="rect">
            <a:avLst/>
          </a:prstGeom>
        </p:spPr>
      </p:pic>
      <p:pic>
        <p:nvPicPr>
          <p:cNvPr id="50" name="图片 49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216" y="6483431"/>
            <a:ext cx="888325" cy="198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6" r:id="rId3"/>
    <p:sldLayoutId id="2147483657" r:id="rId4"/>
  </p:sldLayoutIdLst>
  <p:hf hdr="0" ftr="0" dt="0"/>
  <p:txStyles>
    <p:titleStyle>
      <a:lvl1pPr algn="l" defTabSz="1186815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180" indent="-297180" algn="l" defTabSz="1186815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270" indent="-297180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483360" indent="-297180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077085" indent="-297180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670810" indent="-297180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3900" indent="-297180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57625" indent="-297180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1350" indent="-297180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5075" indent="-297180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681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681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6815" algn="l" defTabSz="118681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0540" algn="l" defTabSz="118681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4265" algn="l" defTabSz="118681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7355" algn="l" defTabSz="118681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1080" algn="l" defTabSz="118681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4170" algn="l" defTabSz="118681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47895" algn="l" defTabSz="118681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86662"/>
            <a:ext cx="12192000" cy="2084676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2479" y="2386662"/>
            <a:ext cx="3982676" cy="208467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hf sldNum="0" hdr="0" ftr="0"/>
  <p:txStyles>
    <p:titleStyle>
      <a:lvl1pPr algn="l" defTabSz="1186815" rtl="0" eaLnBrk="1" latinLnBrk="0" hangingPunct="1">
        <a:lnSpc>
          <a:spcPct val="90000"/>
        </a:lnSpc>
        <a:spcBef>
          <a:spcPct val="0"/>
        </a:spcBef>
        <a:buNone/>
        <a:defRPr sz="4400" b="0" kern="12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Arial" panose="020B0604020202020204" pitchFamily="34" charset="0"/>
        </a:defRPr>
      </a:lvl1pPr>
    </p:titleStyle>
    <p:bodyStyle>
      <a:lvl1pPr marL="0" indent="0" algn="l" defTabSz="1186815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None/>
        <a:defRPr sz="1820" kern="1200">
          <a:solidFill>
            <a:srgbClr val="FFFFFF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593725" indent="0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3115" kern="1200">
          <a:solidFill>
            <a:schemeClr val="tx1"/>
          </a:solidFill>
          <a:latin typeface="+mn-lt"/>
          <a:ea typeface="+mn-ea"/>
          <a:cs typeface="+mn-cs"/>
        </a:defRPr>
      </a:lvl2pPr>
      <a:lvl3pPr marL="1186815" indent="0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595" kern="1200">
          <a:solidFill>
            <a:schemeClr val="tx1"/>
          </a:solidFill>
          <a:latin typeface="+mn-lt"/>
          <a:ea typeface="+mn-ea"/>
          <a:cs typeface="+mn-cs"/>
        </a:defRPr>
      </a:lvl3pPr>
      <a:lvl4pPr marL="1780540" indent="0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5" kern="1200">
          <a:solidFill>
            <a:schemeClr val="tx1"/>
          </a:solidFill>
          <a:latin typeface="+mn-lt"/>
          <a:ea typeface="+mn-ea"/>
          <a:cs typeface="+mn-cs"/>
        </a:defRPr>
      </a:lvl4pPr>
      <a:lvl5pPr marL="2373630" indent="0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5" kern="1200">
          <a:solidFill>
            <a:schemeClr val="tx1"/>
          </a:solidFill>
          <a:latin typeface="+mn-lt"/>
          <a:ea typeface="+mn-ea"/>
          <a:cs typeface="+mn-cs"/>
        </a:defRPr>
      </a:lvl5pPr>
      <a:lvl6pPr marL="3263900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6pPr>
      <a:lvl7pPr marL="3857625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7pPr>
      <a:lvl8pPr marL="4450715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8pPr>
      <a:lvl9pPr marL="5044440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2pPr>
      <a:lvl3pPr marL="1186815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3pPr>
      <a:lvl4pPr marL="1780540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4pPr>
      <a:lvl5pPr marL="2373630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5pPr>
      <a:lvl6pPr marL="2967355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6pPr>
      <a:lvl7pPr marL="3561080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7pPr>
      <a:lvl8pPr marL="4154170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8pPr>
      <a:lvl9pPr marL="4747895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66400" y="2070000"/>
            <a:ext cx="6696000" cy="1620000"/>
          </a:xfrm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5200" b="1">
                <a:solidFill>
                  <a:srgbClr val="C00000"/>
                </a:solidFill>
                <a:latin typeface="Microsoft YaHei"/>
                <a:ea typeface="Microsoft YaHei"/>
              </a:rPr>
              <a:t>PromptForge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sz="3000" b="1">
                <a:solidFill>
                  <a:srgbClr val="111111"/>
                </a:solidFill>
                <a:latin typeface="Microsoft YaHei"/>
                <a:ea typeface="Microsoft YaHei"/>
              </a:rPr>
              <a:t>提示词锻造台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80800" y="4464000"/>
            <a:ext cx="10080000" cy="1584000"/>
          </a:xfrm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2000" b="1">
                <a:solidFill>
                  <a:srgbClr val="C00000"/>
                </a:solidFill>
                <a:latin typeface="Microsoft YaHei"/>
                <a:ea typeface="Microsoft YaHei"/>
              </a:rPr>
              <a:t>让 AI 开发从「反复试错」变成「一次选对」</a:t>
            </a:r>
            <a:endParaRPr lang="zh-CN" altLang="en-US"/>
          </a:p>
          <a:p>
            <a:pPr>
              <a:lnSpc>
                <a:spcPct val="120000"/>
              </a:lnSpc>
              <a:spcBef>
                <a:spcPts val="200"/>
              </a:spcBef>
            </a:pP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</a:rPr>
              <a:t>提示词编译器 · 多智能体评审会 · 机机联动闭环</a:t>
            </a:r>
          </a:p>
          <a:p>
            <a:pPr>
              <a:lnSpc>
                <a:spcPct val="120000"/>
              </a:lnSpc>
            </a:pPr>
            <a:r>
              <a:rPr sz="1200" b="0">
                <a:solidFill>
                  <a:srgbClr val="1F3864"/>
                </a:solidFill>
                <a:latin typeface="Microsoft YaHei"/>
                <a:ea typeface="Microsoft YaHei"/>
              </a:rPr>
              <a:t>Coding 赛道  ｜  deforoout队  ｜  首届 openJiuwen 智能体创新大赛</a:t>
            </a:r>
          </a:p>
        </p:txBody>
      </p:sp>
      <p:sp>
        <p:nvSpPr>
          <p:cNvPr id="4" name="Rectangle 3"/>
          <p:cNvSpPr/>
          <p:nvPr/>
        </p:nvSpPr>
        <p:spPr>
          <a:xfrm>
            <a:off x="280800" y="4302000"/>
            <a:ext cx="1512000" cy="288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: 圆角 9">
            <a:extLst>
              <a:ext uri="{FF2B5EF4-FFF2-40B4-BE49-F238E27FC236}">
                <a16:creationId xmlns:a16="http://schemas.microsoft.com/office/drawing/2014/main" id="{9C6943AB-BE73-4EA4-86B4-BE89093FCE99}"/>
              </a:ext>
            </a:extLst>
          </p:cNvPr>
          <p:cNvSpPr/>
          <p:nvPr/>
        </p:nvSpPr>
        <p:spPr>
          <a:xfrm>
            <a:off x="88900" y="889348"/>
            <a:ext cx="11950700" cy="5436296"/>
          </a:xfrm>
          <a:prstGeom prst="roundRect">
            <a:avLst>
              <a:gd name="adj" fmla="val 8257"/>
            </a:avLst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1412FABC-FF23-43D9-BC0E-FC6FB3E551E7}"/>
              </a:ext>
            </a:extLst>
          </p:cNvPr>
          <p:cNvCxnSpPr>
            <a:cxnSpLocks/>
          </p:cNvCxnSpPr>
          <p:nvPr/>
        </p:nvCxnSpPr>
        <p:spPr>
          <a:xfrm>
            <a:off x="88900" y="4998070"/>
            <a:ext cx="5795375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BE8267FD-BF60-4A01-83C9-9929DF12CFCE}"/>
              </a:ext>
            </a:extLst>
          </p:cNvPr>
          <p:cNvCxnSpPr>
            <a:cxnSpLocks/>
          </p:cNvCxnSpPr>
          <p:nvPr/>
        </p:nvCxnSpPr>
        <p:spPr>
          <a:xfrm>
            <a:off x="5811864" y="889348"/>
            <a:ext cx="0" cy="5436296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86000" y="198000"/>
            <a:ext cx="11160000" cy="468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C00000"/>
                </a:solidFill>
                <a:latin typeface="Microsoft YaHei"/>
                <a:ea typeface="Microsoft YaHei"/>
              </a:rPr>
              <a:t>PromptForge：把一句话需求编译成可验证的方案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6799" y="619200"/>
            <a:ext cx="11016000" cy="198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95959"/>
                </a:solidFill>
                <a:latin typeface="Microsoft YaHei"/>
                <a:ea typeface="Microsoft YaHei"/>
              </a:rPr>
              <a:t>不是改提示词，而是做一次有证据的技术决策。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8000" y="1098000"/>
            <a:ext cx="4968000" cy="198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864"/>
                </a:solidFill>
                <a:latin typeface="Microsoft YaHei"/>
                <a:ea typeface="Microsoft YaHei"/>
              </a:rPr>
              <a:t>创意描述</a:t>
            </a:r>
            <a:r>
              <a:rPr sz="950" b="0">
                <a:solidFill>
                  <a:srgbClr val="8C8C8C"/>
                </a:solidFill>
                <a:latin typeface="Microsoft YaHei"/>
                <a:ea typeface="Microsoft YaHei"/>
              </a:rPr>
              <a:t>（&lt;500 字）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8000" y="1350000"/>
            <a:ext cx="5004000" cy="2556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262626"/>
                </a:solidFill>
                <a:latin typeface="Microsoft YaHei"/>
                <a:ea typeface="Microsoft YaHei"/>
              </a:rPr>
              <a:t>PromptForge 是 AI 开发者的</a:t>
            </a:r>
            <a:r>
              <a:rPr sz="1250" b="1">
                <a:solidFill>
                  <a:srgbClr val="C00000"/>
                </a:solidFill>
                <a:latin typeface="Microsoft YaHei"/>
                <a:ea typeface="Microsoft YaHei"/>
              </a:rPr>
              <a:t>方案编译器 + 多智能体评审会</a:t>
            </a:r>
            <a:r>
              <a:rPr sz="1250" b="0">
                <a:solidFill>
                  <a:srgbClr val="262626"/>
                </a:solidFill>
                <a:latin typeface="Microsoft YaHei"/>
                <a:ea typeface="Microsoft YaHei"/>
              </a:rPr>
              <a:t>。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500"/>
              </a:spcAft>
            </a:pPr>
            <a:r>
              <a:rPr sz="1060" b="0">
                <a:solidFill>
                  <a:srgbClr val="262626"/>
                </a:solidFill>
                <a:latin typeface="Microsoft YaHei"/>
                <a:ea typeface="Microsoft YaHei"/>
              </a:rPr>
              <a:t>输入一句话，先编译成含 </a:t>
            </a:r>
            <a:r>
              <a:rPr sz="1060" b="1">
                <a:solidFill>
                  <a:srgbClr val="262626"/>
                </a:solidFill>
                <a:latin typeface="Microsoft YaHei"/>
                <a:ea typeface="Microsoft YaHei"/>
              </a:rPr>
              <a:t>6 条可执行验收标准</a:t>
            </a:r>
            <a:r>
              <a:rPr sz="1060" b="0">
                <a:solidFill>
                  <a:srgbClr val="262626"/>
                </a:solidFill>
                <a:latin typeface="Microsoft YaHei"/>
                <a:ea typeface="Microsoft YaHei"/>
              </a:rPr>
              <a:t> 的 SRD；再生成 3~5 个“假设不同”的候选提示词，调用多模型同题执行；测试、静态分析、性能等证据回读后，由异构评委盲评，TOPSIS/Pareto 选出最优，并给出成本账单与可回放交付包。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500"/>
              </a:spcAft>
            </a:pPr>
            <a:r>
              <a:rPr sz="1060" b="1">
                <a:solidFill>
                  <a:srgbClr val="1F3864"/>
                </a:solidFill>
                <a:latin typeface="Microsoft YaHei"/>
                <a:ea typeface="Microsoft YaHei"/>
              </a:rPr>
              <a:t>它解决三个问题：</a:t>
            </a:r>
            <a:r>
              <a:rPr sz="1060" b="0">
                <a:solidFill>
                  <a:srgbClr val="262626"/>
                </a:solidFill>
                <a:latin typeface="Microsoft YaHei"/>
                <a:ea typeface="Microsoft YaHei"/>
              </a:rPr>
              <a:t>需求说不清、方案选不对、结果没验证。与单模型 self-refine 不同，它用执行证据替代主观自评；与提示词工具不同，它从“改句子”升级为“做决策”。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>
                <a:solidFill>
                  <a:srgbClr val="2E7D32"/>
                </a:solidFill>
                <a:latin typeface="Microsoft YaHei"/>
                <a:ea typeface="Microsoft YaHei"/>
              </a:rPr>
              <a:t>机机联动：</a:t>
            </a:r>
            <a:r>
              <a:rPr sz="1040" b="0">
                <a:solidFill>
                  <a:srgbClr val="262626"/>
                </a:solidFill>
                <a:latin typeface="Microsoft YaHei"/>
                <a:ea typeface="Microsoft YaHei"/>
              </a:rPr>
              <a:t>执行机回传 Evidence，评审机给 Verdict，规划机决定下一轮——不是让模型聊天。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58000" y="4014000"/>
            <a:ext cx="4968000" cy="594000"/>
          </a:xfrm>
          <a:prstGeom prst="roundRect">
            <a:avLst>
              <a:gd name="adj" fmla="val 10000"/>
            </a:avLst>
          </a:prstGeom>
          <a:solidFill>
            <a:srgbClr val="E2F0D9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8000" y="4068000"/>
            <a:ext cx="4788000" cy="486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2E7D32"/>
                </a:solidFill>
                <a:latin typeface="Microsoft YaHei"/>
                <a:ea typeface="Microsoft YaHei"/>
              </a:rPr>
              <a:t>已经真实跑过：</a:t>
            </a:r>
            <a:r>
              <a:rPr sz="1250" b="1">
                <a:solidFill>
                  <a:srgbClr val="2E7D32"/>
                </a:solidFill>
                <a:latin typeface="Microsoft YaHei"/>
                <a:ea typeface="Microsoft YaHei"/>
              </a:rPr>
              <a:t>A raw 3/6  vs  B compiled 6/6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595959"/>
                </a:solidFill>
                <a:latin typeface="Microsoft YaHei"/>
                <a:ea typeface="Microsoft YaHei"/>
              </a:rPr>
              <a:t>同一 deepseek-flash；¥0.0096 vs ¥0.0055；证据在 runs/demo-004。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3999" y="1098000"/>
            <a:ext cx="5256000" cy="198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864"/>
                </a:solidFill>
                <a:latin typeface="Microsoft YaHei"/>
                <a:ea typeface="Microsoft YaHei"/>
              </a:rPr>
              <a:t>应用场景</a:t>
            </a:r>
            <a:r>
              <a:rPr sz="950" b="0">
                <a:solidFill>
                  <a:srgbClr val="8C8C8C"/>
                </a:solidFill>
                <a:latin typeface="Microsoft YaHei"/>
                <a:ea typeface="Microsoft YaHei"/>
              </a:rPr>
              <a:t>（&lt;500 字）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3999" y="1350000"/>
            <a:ext cx="5328000" cy="3708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070C0"/>
                </a:solidFill>
                <a:latin typeface="Microsoft YaHei"/>
                <a:ea typeface="Microsoft YaHei"/>
              </a:rPr>
              <a:t>面向谁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019" b="0">
                <a:solidFill>
                  <a:srgbClr val="262626"/>
                </a:solidFill>
                <a:latin typeface="Microsoft YaHei"/>
                <a:ea typeface="Microsoft YaHei"/>
              </a:rPr>
              <a:t>独立开发者、高校学生、2~20 人研发团队；接到一句话需求、要给现有项目加功能/修 Bug/做方案选型的人。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070C0"/>
                </a:solidFill>
                <a:latin typeface="Microsoft YaHei"/>
                <a:ea typeface="Microsoft YaHei"/>
              </a:rPr>
              <a:t>典型场景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019" b="0">
                <a:solidFill>
                  <a:srgbClr val="262626"/>
                </a:solidFill>
                <a:latin typeface="Microsoft YaHei"/>
                <a:ea typeface="Microsoft YaHei"/>
              </a:rPr>
              <a:t>从一句话想法做可运行原型；给现有 FastAPI/脚本项目加筛选、分页、鉴权等能力；团队评审会用“测试通过率 + 成本 + 置信度”替代“我觉得”。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070C0"/>
                </a:solidFill>
                <a:latin typeface="Microsoft YaHei"/>
                <a:ea typeface="Microsoft YaHei"/>
              </a:rPr>
              <a:t>价值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262626"/>
                </a:solidFill>
                <a:latin typeface="Microsoft YaHei"/>
                <a:ea typeface="Microsoft YaHei"/>
              </a:rPr>
              <a:t>对个人：降低与 AI 协作的提示词门槛；对团队：评审可比较、可审计；对流程：让“选方案”第一次可复现。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3999" y="3798000"/>
            <a:ext cx="2916000" cy="432000"/>
          </a:xfrm>
          <a:prstGeom prst="roundRect">
            <a:avLst>
              <a:gd name="adj" fmla="val 12000"/>
            </a:avLst>
          </a:prstGeom>
          <a:solidFill>
            <a:srgbClr val="FFF2F2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46000" y="3844800"/>
            <a:ext cx="2772000" cy="342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5959"/>
                </a:solidFill>
                <a:latin typeface="Microsoft YaHei"/>
                <a:ea typeface="Microsoft YaHei"/>
              </a:rPr>
              <a:t>所属主题  </a:t>
            </a:r>
            <a:r>
              <a:rPr sz="1400" b="1">
                <a:solidFill>
                  <a:srgbClr val="C00000"/>
                </a:solidFill>
                <a:latin typeface="Microsoft YaHei"/>
                <a:ea typeface="Microsoft YaHei"/>
              </a:rPr>
              <a:t>Coding 赛道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8000" y="4806000"/>
            <a:ext cx="4968000" cy="162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F3864"/>
                </a:solidFill>
                <a:latin typeface="Microsoft YaHei"/>
                <a:ea typeface="Microsoft YaHei"/>
              </a:rPr>
              <a:t>和现有方案的区别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8000" y="4975200"/>
            <a:ext cx="4986000" cy="104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C00000"/>
                </a:solidFill>
                <a:latin typeface="Microsoft YaHei"/>
                <a:ea typeface="Microsoft YaHei"/>
              </a:rPr>
              <a:t>• </a:t>
            </a:r>
            <a:r>
              <a:rPr sz="880" b="1">
                <a:solidFill>
                  <a:srgbClr val="262626"/>
                </a:solidFill>
                <a:latin typeface="Microsoft YaHei"/>
                <a:ea typeface="Microsoft YaHei"/>
              </a:rPr>
              <a:t>提示词工具</a:t>
            </a:r>
            <a:r>
              <a:rPr sz="850" b="0">
                <a:solidFill>
                  <a:srgbClr val="595959"/>
                </a:solidFill>
                <a:latin typeface="Microsoft YaHei"/>
                <a:ea typeface="Microsoft YaHei"/>
              </a:rPr>
              <a:t>：只改文本，不知道代码能不能跑、测试过不过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C00000"/>
                </a:solidFill>
                <a:latin typeface="Microsoft YaHei"/>
                <a:ea typeface="Microsoft YaHei"/>
              </a:rPr>
              <a:t>• </a:t>
            </a:r>
            <a:r>
              <a:rPr sz="880" b="1">
                <a:solidFill>
                  <a:srgbClr val="262626"/>
                </a:solidFill>
                <a:latin typeface="Microsoft YaHei"/>
                <a:ea typeface="Microsoft YaHei"/>
              </a:rPr>
              <a:t>单模型 self-refine</a:t>
            </a:r>
            <a:r>
              <a:rPr sz="850" b="0">
                <a:solidFill>
                  <a:srgbClr val="595959"/>
                </a:solidFill>
                <a:latin typeface="Microsoft YaHei"/>
                <a:ea typeface="Microsoft YaHei"/>
              </a:rPr>
              <a:t>：同一条思路自我修改，没有外部证据与参照系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C00000"/>
                </a:solidFill>
                <a:latin typeface="Microsoft YaHei"/>
                <a:ea typeface="Microsoft YaHei"/>
              </a:rPr>
              <a:t>• </a:t>
            </a:r>
            <a:r>
              <a:rPr sz="880" b="1">
                <a:solidFill>
                  <a:srgbClr val="262626"/>
                </a:solidFill>
                <a:latin typeface="Microsoft YaHei"/>
                <a:ea typeface="Microsoft YaHei"/>
              </a:rPr>
              <a:t>多智能体辩论</a:t>
            </a:r>
            <a:r>
              <a:rPr sz="850" b="0">
                <a:solidFill>
                  <a:srgbClr val="595959"/>
                </a:solidFill>
                <a:latin typeface="Microsoft YaHei"/>
                <a:ea typeface="Microsoft YaHei"/>
              </a:rPr>
              <a:t>：开放式聊天，成本随轮数放大，结论难审计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3999" y="4356000"/>
            <a:ext cx="5256000" cy="162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F3864"/>
                </a:solidFill>
                <a:latin typeface="Microsoft YaHei"/>
                <a:ea typeface="Microsoft YaHei"/>
              </a:rPr>
              <a:t>五个创新点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3999" y="4521600"/>
            <a:ext cx="5256000" cy="1368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819" b="1">
                <a:solidFill>
                  <a:srgbClr val="C00000"/>
                </a:solidFill>
                <a:latin typeface="Microsoft YaHei"/>
                <a:ea typeface="Microsoft YaHei"/>
              </a:rPr>
              <a:t>01  </a:t>
            </a:r>
            <a:r>
              <a:rPr sz="880" b="0">
                <a:solidFill>
                  <a:srgbClr val="262626"/>
                </a:solidFill>
                <a:latin typeface="Microsoft YaHei"/>
                <a:ea typeface="Microsoft YaHei"/>
              </a:rPr>
              <a:t>证据驱动的多方案决策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819" b="1">
                <a:solidFill>
                  <a:srgbClr val="C00000"/>
                </a:solidFill>
                <a:latin typeface="Microsoft YaHei"/>
                <a:ea typeface="Microsoft YaHei"/>
              </a:rPr>
              <a:t>02  </a:t>
            </a:r>
            <a:r>
              <a:rPr sz="880" b="0">
                <a:solidFill>
                  <a:srgbClr val="262626"/>
                </a:solidFill>
                <a:latin typeface="Microsoft YaHei"/>
                <a:ea typeface="Microsoft YaHei"/>
              </a:rPr>
              <a:t>异构评委去偏 + 统计置信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819" b="1">
                <a:solidFill>
                  <a:srgbClr val="C00000"/>
                </a:solidFill>
                <a:latin typeface="Microsoft YaHei"/>
                <a:ea typeface="Microsoft YaHei"/>
              </a:rPr>
              <a:t>03  </a:t>
            </a:r>
            <a:r>
              <a:rPr sz="880" b="0">
                <a:solidFill>
                  <a:srgbClr val="262626"/>
                </a:solidFill>
                <a:latin typeface="Microsoft YaHei"/>
                <a:ea typeface="Microsoft YaHei"/>
              </a:rPr>
              <a:t>Token 预算感知的自适应编排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819" b="1">
                <a:solidFill>
                  <a:srgbClr val="C00000"/>
                </a:solidFill>
                <a:latin typeface="Microsoft YaHei"/>
                <a:ea typeface="Microsoft YaHei"/>
              </a:rPr>
              <a:t>04  </a:t>
            </a:r>
            <a:r>
              <a:rPr sz="880" b="0">
                <a:solidFill>
                  <a:srgbClr val="262626"/>
                </a:solidFill>
                <a:latin typeface="Microsoft YaHei"/>
                <a:ea typeface="Microsoft YaHei"/>
              </a:rPr>
              <a:t>Orchestrator + Skill 双形态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819" b="1">
                <a:solidFill>
                  <a:srgbClr val="C00000"/>
                </a:solidFill>
                <a:latin typeface="Microsoft YaHei"/>
                <a:ea typeface="Microsoft YaHei"/>
              </a:rPr>
              <a:t>05  </a:t>
            </a:r>
            <a:r>
              <a:rPr sz="880" b="0">
                <a:solidFill>
                  <a:srgbClr val="262626"/>
                </a:solidFill>
                <a:latin typeface="Microsoft YaHei"/>
                <a:ea typeface="Microsoft YaHei"/>
              </a:rPr>
              <a:t>机机联动协议 IAOV</a:t>
            </a:r>
          </a:p>
        </p:txBody>
      </p:sp>
    </p:spTree>
    <p:extLst>
      <p:ext uri="{BB962C8B-B14F-4D97-AF65-F5344CB8AC3E}">
        <p14:creationId xmlns:p14="http://schemas.microsoft.com/office/powerpoint/2010/main" val="25642877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圆角 5">
            <a:extLst>
              <a:ext uri="{FF2B5EF4-FFF2-40B4-BE49-F238E27FC236}">
                <a16:creationId xmlns:a16="http://schemas.microsoft.com/office/drawing/2014/main" id="{83F2A6C2-0B11-48B1-B070-FF9968A32862}"/>
              </a:ext>
            </a:extLst>
          </p:cNvPr>
          <p:cNvSpPr/>
          <p:nvPr/>
        </p:nvSpPr>
        <p:spPr>
          <a:xfrm>
            <a:off x="88900" y="889348"/>
            <a:ext cx="11950700" cy="5436296"/>
          </a:xfrm>
          <a:prstGeom prst="roundRect">
            <a:avLst>
              <a:gd name="adj" fmla="val 8257"/>
            </a:avLst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Rectangle 6"/>
          <p:cNvSpPr/>
          <p:nvPr/>
        </p:nvSpPr>
        <p:spPr>
          <a:xfrm>
            <a:off x="378000" y="259200"/>
            <a:ext cx="43200" cy="3780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6000" y="187200"/>
            <a:ext cx="9360000" cy="45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C00000"/>
                </a:solidFill>
                <a:latin typeface="Microsoft YaHei"/>
                <a:ea typeface="Microsoft YaHei"/>
              </a:rPr>
              <a:t>方案构想：一条可审计的七阶段流水线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6799" y="604800"/>
            <a:ext cx="10800000" cy="198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95959"/>
                </a:solidFill>
                <a:latin typeface="Microsoft YaHei"/>
                <a:ea typeface="Microsoft YaHei"/>
              </a:rPr>
              <a:t>从关键词到交付包，每一步都留下可复现的状态。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6799" y="802800"/>
            <a:ext cx="10800000" cy="198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95959"/>
                </a:solidFill>
                <a:latin typeface="Microsoft YaHei"/>
                <a:ea typeface="Microsoft YaHei"/>
              </a:rPr>
              <a:t>核心不是“让模型多写几版”，而是让候选方案在同一套验收与预算下竞演。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000" y="6282000"/>
            <a:ext cx="7200000" cy="18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8C8C8C"/>
                </a:solidFill>
                <a:latin typeface="Microsoft YaHei"/>
                <a:ea typeface="Microsoft YaHei"/>
              </a:rPr>
              <a:t>PromptForge · 提示词锻造台  ｜  deforoout队  ｜  Coding 赛道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2000" y="1605600"/>
            <a:ext cx="11196000" cy="10800"/>
          </a:xfrm>
          <a:prstGeom prst="rect">
            <a:avLst/>
          </a:prstGeom>
          <a:solidFill>
            <a:srgbClr val="E7C6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0000" y="1278000"/>
            <a:ext cx="1519200" cy="66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D9A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2000" y="1321200"/>
            <a:ext cx="1375200" cy="14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C00000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2000" y="1429200"/>
            <a:ext cx="1375200" cy="18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F3864"/>
                </a:solidFill>
                <a:latin typeface="Microsoft YaHei"/>
                <a:ea typeface="Microsoft YaHei"/>
              </a:rPr>
              <a:t>需求编译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2000" y="1638000"/>
            <a:ext cx="1375200" cy="198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595959"/>
                </a:solidFill>
                <a:latin typeface="Microsoft YaHei"/>
                <a:ea typeface="Microsoft YaHei"/>
              </a:rPr>
              <a:t>关键词 → SRD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070000" y="1278000"/>
            <a:ext cx="1519200" cy="66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D9A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42000" y="1321200"/>
            <a:ext cx="1375200" cy="14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C00000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42000" y="1429200"/>
            <a:ext cx="1375200" cy="18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F3864"/>
                </a:solidFill>
                <a:latin typeface="Microsoft YaHei"/>
                <a:ea typeface="Microsoft YaHei"/>
              </a:rPr>
              <a:t>候选组合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42000" y="1638000"/>
            <a:ext cx="1375200" cy="198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595959"/>
                </a:solidFill>
                <a:latin typeface="Microsoft YaHei"/>
                <a:ea typeface="Microsoft YaHei"/>
              </a:rPr>
              <a:t>假设不同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90000" y="1278000"/>
            <a:ext cx="1519200" cy="66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D9A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61999" y="1321200"/>
            <a:ext cx="1375200" cy="14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C00000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61999" y="1429200"/>
            <a:ext cx="1375200" cy="18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F3864"/>
                </a:solidFill>
                <a:latin typeface="Microsoft YaHei"/>
                <a:ea typeface="Microsoft YaHei"/>
              </a:rPr>
              <a:t>多模型执行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61999" y="1638000"/>
            <a:ext cx="1375200" cy="198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595959"/>
                </a:solidFill>
                <a:latin typeface="Microsoft YaHei"/>
                <a:ea typeface="Microsoft YaHei"/>
              </a:rPr>
              <a:t>并行生成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310000" y="1278000"/>
            <a:ext cx="1519200" cy="66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82000" y="1321200"/>
            <a:ext cx="1375200" cy="14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C00000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82000" y="1429200"/>
            <a:ext cx="1375200" cy="18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F3864"/>
                </a:solidFill>
                <a:latin typeface="Microsoft YaHei"/>
                <a:ea typeface="Microsoft YaHei"/>
              </a:rPr>
              <a:t>证据回读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82000" y="1638000"/>
            <a:ext cx="1375200" cy="198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595959"/>
                </a:solidFill>
                <a:latin typeface="Microsoft YaHei"/>
                <a:ea typeface="Microsoft YaHei"/>
              </a:rPr>
              <a:t>测试 / lint / 性能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930000" y="1278000"/>
            <a:ext cx="1519200" cy="66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02000" y="1321200"/>
            <a:ext cx="1375200" cy="14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C00000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02000" y="1429200"/>
            <a:ext cx="1375200" cy="18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F3864"/>
                </a:solidFill>
                <a:latin typeface="Microsoft YaHei"/>
                <a:ea typeface="Microsoft YaHei"/>
              </a:rPr>
              <a:t>异构评审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02000" y="1638000"/>
            <a:ext cx="1375200" cy="198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595959"/>
                </a:solidFill>
                <a:latin typeface="Microsoft YaHei"/>
                <a:ea typeface="Microsoft YaHei"/>
              </a:rPr>
              <a:t>盲评 / 换位 / 去偏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550000" y="1278000"/>
            <a:ext cx="1519200" cy="66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22000" y="1321200"/>
            <a:ext cx="1375200" cy="14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C00000"/>
                </a:solidFill>
                <a:latin typeface="Microsoft YaHei"/>
                <a:ea typeface="Microsoft YaHei"/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22000" y="1429200"/>
            <a:ext cx="1375200" cy="18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F3864"/>
                </a:solidFill>
                <a:latin typeface="Microsoft YaHei"/>
                <a:ea typeface="Microsoft YaHei"/>
              </a:rPr>
              <a:t>决策融合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22000" y="1638000"/>
            <a:ext cx="1375200" cy="198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595959"/>
                </a:solidFill>
                <a:latin typeface="Microsoft YaHei"/>
                <a:ea typeface="Microsoft YaHei"/>
              </a:rPr>
              <a:t>TOPSIS / Pareto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170000" y="1278000"/>
            <a:ext cx="1519200" cy="66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D9A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42000" y="1321200"/>
            <a:ext cx="1375200" cy="14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C00000"/>
                </a:solidFill>
                <a:latin typeface="Microsoft YaHei"/>
                <a:ea typeface="Microsoft YaHei"/>
              </a:rPr>
              <a:t>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42000" y="1429200"/>
            <a:ext cx="1375200" cy="18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F3864"/>
                </a:solidFill>
                <a:latin typeface="Microsoft YaHei"/>
                <a:ea typeface="Microsoft YaHei"/>
              </a:rPr>
              <a:t>交付回放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42000" y="1638000"/>
            <a:ext cx="1375200" cy="198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595959"/>
                </a:solidFill>
                <a:latin typeface="Microsoft YaHei"/>
                <a:ea typeface="Microsoft YaHei"/>
              </a:rPr>
              <a:t>证据包 / DAG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136000" y="1026000"/>
            <a:ext cx="3546000" cy="198000"/>
          </a:xfrm>
          <a:prstGeom prst="roundRect">
            <a:avLst>
              <a:gd name="adj" fmla="val 20000"/>
            </a:avLst>
          </a:prstGeom>
          <a:solidFill>
            <a:srgbClr val="EAF2FA"/>
          </a:solidFill>
          <a:ln w="1016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90000" y="1051200"/>
            <a:ext cx="3438000" cy="14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0070C0"/>
                </a:solidFill>
                <a:latin typeface="Microsoft YaHei"/>
                <a:ea typeface="Microsoft YaHei"/>
              </a:rPr>
              <a:t>机机联动：执行结果回读，评审结论再驱动下一轮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0000" y="2106000"/>
            <a:ext cx="3618000" cy="917999"/>
          </a:xfrm>
          <a:prstGeom prst="roundRect">
            <a:avLst>
              <a:gd name="adj" fmla="val 10000"/>
            </a:avLst>
          </a:prstGeom>
          <a:solidFill>
            <a:srgbClr val="F8FBFE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58000" y="2163600"/>
            <a:ext cx="3384000" cy="14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070C0"/>
                </a:solidFill>
                <a:latin typeface="Microsoft YaHei"/>
                <a:ea typeface="Microsoft YaHei"/>
              </a:rPr>
              <a:t>SRD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58000" y="2329200"/>
            <a:ext cx="3384000" cy="14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>
                <a:solidFill>
                  <a:srgbClr val="1F3864"/>
                </a:solidFill>
                <a:latin typeface="Microsoft YaHei"/>
                <a:ea typeface="Microsoft YaHei"/>
              </a:rPr>
              <a:t>我们到底要什么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58000" y="2484000"/>
            <a:ext cx="3384000" cy="18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595959"/>
                </a:solidFill>
                <a:latin typeface="Microsoft YaHei"/>
                <a:ea typeface="Microsoft YaHei"/>
              </a:rPr>
              <a:t>目标 · 约束 · 验收标准 · 输出契约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58000" y="2771999"/>
            <a:ext cx="3384000" cy="12599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C8C8C"/>
                </a:solidFill>
                <a:latin typeface="Microsoft YaHei"/>
                <a:ea typeface="Microsoft YaHei"/>
              </a:rPr>
              <a:t>生产者：需求编译 Agent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248000" y="2106000"/>
            <a:ext cx="3618000" cy="917999"/>
          </a:xfrm>
          <a:prstGeom prst="roundRect">
            <a:avLst>
              <a:gd name="adj" fmla="val 10000"/>
            </a:avLst>
          </a:prstGeom>
          <a:solidFill>
            <a:srgbClr val="F8FBFE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356000" y="2163600"/>
            <a:ext cx="3384000" cy="14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070C0"/>
                </a:solidFill>
                <a:latin typeface="Microsoft YaHei"/>
                <a:ea typeface="Microsoft YaHei"/>
              </a:rPr>
              <a:t>Evidence Packet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56000" y="2329200"/>
            <a:ext cx="3384000" cy="14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>
                <a:solidFill>
                  <a:srgbClr val="1F3864"/>
                </a:solidFill>
                <a:latin typeface="Microsoft YaHei"/>
                <a:ea typeface="Microsoft YaHei"/>
              </a:rPr>
              <a:t>机器实际做成了什么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356000" y="2484000"/>
            <a:ext cx="3384000" cy="18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595959"/>
                </a:solidFill>
                <a:latin typeface="Microsoft YaHei"/>
                <a:ea typeface="Microsoft YaHei"/>
              </a:rPr>
              <a:t>测试 · 编译 · 性能 · 截图 · 日志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356000" y="2771999"/>
            <a:ext cx="3384000" cy="12599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C8C8C"/>
                </a:solidFill>
                <a:latin typeface="Microsoft YaHei"/>
                <a:ea typeface="Microsoft YaHei"/>
              </a:rPr>
              <a:t>生产者：执行机 / 沙箱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046000" y="2106000"/>
            <a:ext cx="3618000" cy="917999"/>
          </a:xfrm>
          <a:prstGeom prst="roundRect">
            <a:avLst>
              <a:gd name="adj" fmla="val 10000"/>
            </a:avLst>
          </a:prstGeom>
          <a:solidFill>
            <a:srgbClr val="F8FBFE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154000" y="2163600"/>
            <a:ext cx="3384000" cy="14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070C0"/>
                </a:solidFill>
                <a:latin typeface="Microsoft YaHei"/>
                <a:ea typeface="Microsoft YaHei"/>
              </a:rPr>
              <a:t>Prompt DAG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54000" y="2329200"/>
            <a:ext cx="3384000" cy="14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>
                <a:solidFill>
                  <a:srgbClr val="1F3864"/>
                </a:solidFill>
                <a:latin typeface="Microsoft YaHei"/>
                <a:ea typeface="Microsoft YaHei"/>
              </a:rPr>
              <a:t>方案怎么演化来的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54000" y="2484000"/>
            <a:ext cx="3384000" cy="18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595959"/>
                </a:solidFill>
                <a:latin typeface="Microsoft YaHei"/>
                <a:ea typeface="Microsoft YaHei"/>
              </a:rPr>
              <a:t>父代 · 变异 · 融合 · 成本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154000" y="2771999"/>
            <a:ext cx="3384000" cy="12599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C8C8C"/>
                </a:solidFill>
                <a:latin typeface="Microsoft YaHei"/>
                <a:ea typeface="Microsoft YaHei"/>
              </a:rPr>
              <a:t>生产者：编排器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50000" y="3186000"/>
            <a:ext cx="3618000" cy="145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58000" y="3250800"/>
            <a:ext cx="3402000" cy="162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C00000"/>
                </a:solidFill>
                <a:latin typeface="Microsoft YaHei"/>
                <a:ea typeface="Microsoft YaHei"/>
              </a:rPr>
              <a:t>核心机制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58000" y="3445200"/>
            <a:ext cx="3420000" cy="1152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C00000"/>
                </a:solidFill>
                <a:latin typeface="Microsoft YaHei"/>
                <a:ea typeface="Microsoft YaHei"/>
              </a:rPr>
              <a:t>• </a:t>
            </a:r>
            <a:r>
              <a:rPr sz="869" b="0">
                <a:solidFill>
                  <a:srgbClr val="262626"/>
                </a:solidFill>
                <a:latin typeface="Microsoft YaHei"/>
                <a:ea typeface="Microsoft YaHei"/>
              </a:rPr>
              <a:t>证据驱动：每个候选真实执行，评委只在该证据上打分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C00000"/>
                </a:solidFill>
                <a:latin typeface="Microsoft YaHei"/>
                <a:ea typeface="Microsoft YaHei"/>
              </a:rPr>
              <a:t>• </a:t>
            </a:r>
            <a:r>
              <a:rPr sz="869" b="0">
                <a:solidFill>
                  <a:srgbClr val="262626"/>
                </a:solidFill>
                <a:latin typeface="Microsoft YaHei"/>
                <a:ea typeface="Microsoft YaHei"/>
              </a:rPr>
              <a:t>异构评审：跨厂商评委 + 换序 + 一致性检验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C00000"/>
                </a:solidFill>
                <a:latin typeface="Microsoft YaHei"/>
                <a:ea typeface="Microsoft YaHei"/>
              </a:rPr>
              <a:t>• </a:t>
            </a:r>
            <a:r>
              <a:rPr sz="869" b="0">
                <a:solidFill>
                  <a:srgbClr val="262626"/>
                </a:solidFill>
                <a:latin typeface="Microsoft YaHei"/>
                <a:ea typeface="Microsoft YaHei"/>
              </a:rPr>
              <a:t>Token 预算：计量、剪枝、早停，预算耗尽前给当前最优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C00000"/>
                </a:solidFill>
                <a:latin typeface="Microsoft YaHei"/>
                <a:ea typeface="Microsoft YaHei"/>
              </a:rPr>
              <a:t>• </a:t>
            </a:r>
            <a:r>
              <a:rPr sz="869" b="0">
                <a:solidFill>
                  <a:srgbClr val="262626"/>
                </a:solidFill>
                <a:latin typeface="Microsoft YaHei"/>
                <a:ea typeface="Microsoft YaHei"/>
              </a:rPr>
              <a:t>双形态：Orchestrator 跨模型决策 + Skill 单会话自迭代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248000" y="3186000"/>
            <a:ext cx="3618000" cy="145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356000" y="3250800"/>
            <a:ext cx="3402000" cy="162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070C0"/>
                </a:solidFill>
                <a:latin typeface="Microsoft YaHei"/>
                <a:ea typeface="Microsoft YaHei"/>
              </a:rPr>
              <a:t>技术依赖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356000" y="3445200"/>
            <a:ext cx="3420000" cy="1152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0070C0"/>
                </a:solidFill>
                <a:latin typeface="Microsoft YaHei"/>
                <a:ea typeface="Microsoft YaHei"/>
              </a:rPr>
              <a:t>• </a:t>
            </a:r>
            <a:r>
              <a:rPr sz="869" b="0">
                <a:solidFill>
                  <a:srgbClr val="262626"/>
                </a:solidFill>
                <a:latin typeface="Microsoft YaHei"/>
                <a:ea typeface="Microsoft YaHei"/>
              </a:rPr>
              <a:t>openJiuwen WorkSwarm / AgentOS：任务规划、Skills、Channel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0070C0"/>
                </a:solidFill>
                <a:latin typeface="Microsoft YaHei"/>
                <a:ea typeface="Microsoft YaHei"/>
              </a:rPr>
              <a:t>• </a:t>
            </a:r>
            <a:r>
              <a:rPr sz="869" b="0">
                <a:solidFill>
                  <a:srgbClr val="262626"/>
                </a:solidFill>
                <a:latin typeface="Microsoft YaHei"/>
                <a:ea typeface="Microsoft YaHei"/>
              </a:rPr>
              <a:t>Agent Framework + Agent System Service：多 Agent 协同、沙箱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0070C0"/>
                </a:solidFill>
                <a:latin typeface="Microsoft YaHei"/>
                <a:ea typeface="Microsoft YaHei"/>
              </a:rPr>
              <a:t>• </a:t>
            </a:r>
            <a:r>
              <a:rPr sz="869" b="0">
                <a:solidFill>
                  <a:srgbClr val="262626"/>
                </a:solidFill>
                <a:latin typeface="Microsoft YaHei"/>
                <a:ea typeface="Microsoft YaHei"/>
              </a:rPr>
              <a:t>DeepSeek / Qwen / Pangu：模型网关与异构评委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0070C0"/>
                </a:solidFill>
                <a:latin typeface="Microsoft YaHei"/>
                <a:ea typeface="Microsoft YaHei"/>
              </a:rPr>
              <a:t>• </a:t>
            </a:r>
            <a:r>
              <a:rPr sz="869" b="0">
                <a:solidFill>
                  <a:srgbClr val="262626"/>
                </a:solidFill>
                <a:latin typeface="Microsoft YaHei"/>
                <a:ea typeface="Microsoft YaHei"/>
              </a:rPr>
              <a:t>Python + pytest + Git + 华为云 AI 开发者空间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046000" y="3186000"/>
            <a:ext cx="3618000" cy="145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154000" y="3250800"/>
            <a:ext cx="3402000" cy="162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E7D32"/>
                </a:solidFill>
                <a:latin typeface="Microsoft YaHei"/>
                <a:ea typeface="Microsoft YaHei"/>
              </a:rPr>
              <a:t>方案优势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154000" y="3445200"/>
            <a:ext cx="3420000" cy="1152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2E7D32"/>
                </a:solidFill>
                <a:latin typeface="Microsoft YaHei"/>
                <a:ea typeface="Microsoft YaHei"/>
              </a:rPr>
              <a:t>• </a:t>
            </a:r>
            <a:r>
              <a:rPr sz="869" b="0">
                <a:solidFill>
                  <a:srgbClr val="262626"/>
                </a:solidFill>
                <a:latin typeface="Microsoft YaHei"/>
                <a:ea typeface="Microsoft YaHei"/>
              </a:rPr>
              <a:t>从“文本优化”升级为“方案决策”，推荐能指到具体证据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2E7D32"/>
                </a:solidFill>
                <a:latin typeface="Microsoft YaHei"/>
                <a:ea typeface="Microsoft YaHei"/>
              </a:rPr>
              <a:t>• </a:t>
            </a:r>
            <a:r>
              <a:rPr sz="869" b="0">
                <a:solidFill>
                  <a:srgbClr val="262626"/>
                </a:solidFill>
                <a:latin typeface="Microsoft YaHei"/>
                <a:ea typeface="Microsoft YaHei"/>
              </a:rPr>
              <a:t>多候选是假设不同，不是同义改写；差异有信息量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2E7D32"/>
                </a:solidFill>
                <a:latin typeface="Microsoft YaHei"/>
                <a:ea typeface="Microsoft YaHei"/>
              </a:rPr>
              <a:t>• </a:t>
            </a:r>
            <a:r>
              <a:rPr sz="869" b="0">
                <a:solidFill>
                  <a:srgbClr val="262626"/>
                </a:solidFill>
                <a:latin typeface="Microsoft YaHei"/>
                <a:ea typeface="Microsoft YaHei"/>
              </a:rPr>
              <a:t>评审去偏 + 置信区间，不把“一个 LLM 打分”当真相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2E7D32"/>
                </a:solidFill>
                <a:latin typeface="Microsoft YaHei"/>
                <a:ea typeface="Microsoft YaHei"/>
              </a:rPr>
              <a:t>• </a:t>
            </a:r>
            <a:r>
              <a:rPr sz="869" b="0">
                <a:solidFill>
                  <a:srgbClr val="262626"/>
                </a:solidFill>
                <a:latin typeface="Microsoft YaHei"/>
                <a:ea typeface="Microsoft YaHei"/>
              </a:rPr>
              <a:t>成本可见、可算、可停止；交付包可复现、可审计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50000" y="4770000"/>
            <a:ext cx="11304000" cy="66600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143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40000" y="4816800"/>
            <a:ext cx="11124000" cy="558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F3864"/>
                </a:solidFill>
                <a:latin typeface="Microsoft YaHei"/>
                <a:ea typeface="Microsoft YaHei"/>
              </a:rPr>
              <a:t>决策规则：</a:t>
            </a:r>
            <a:r>
              <a:rPr sz="940" b="0">
                <a:solidFill>
                  <a:srgbClr val="262626"/>
                </a:solidFill>
                <a:latin typeface="Microsoft YaHei"/>
                <a:ea typeface="Microsoft YaHei"/>
              </a:rPr>
              <a:t>硬约束过滤 → Pareto 前沿 → TOPSIS + 置信区间 → 分差在 CI 内不强行排序；输出推荐 + 次优 + 证据链 + 成本账单。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864"/>
                </a:solidFill>
                <a:latin typeface="Microsoft YaHei"/>
                <a:ea typeface="Microsoft YaHei"/>
              </a:rPr>
              <a:t>交付物：</a:t>
            </a:r>
            <a:r>
              <a:rPr sz="940" b="0">
                <a:solidFill>
                  <a:srgbClr val="262626"/>
                </a:solidFill>
                <a:latin typeface="Microsoft YaHei"/>
                <a:ea typeface="Microsoft YaHei"/>
              </a:rPr>
              <a:t>SRD / 候选提示词 / 证据包 / 评审报告 / 决策卡 / 成本账单；全部可按哈希回放。</a:t>
            </a:r>
          </a:p>
        </p:txBody>
      </p:sp>
    </p:spTree>
    <p:extLst>
      <p:ext uri="{BB962C8B-B14F-4D97-AF65-F5344CB8AC3E}">
        <p14:creationId xmlns:p14="http://schemas.microsoft.com/office/powerpoint/2010/main" val="22599189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78000" y="259200"/>
            <a:ext cx="43200" cy="3780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86000" y="187200"/>
            <a:ext cx="9360000" cy="45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C00000"/>
                </a:solidFill>
                <a:latin typeface="Microsoft YaHei"/>
                <a:ea typeface="Microsoft YaHei"/>
              </a:rPr>
              <a:t>DEMO：同一任务，两种提示策略，真实测试选优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6799" y="604800"/>
            <a:ext cx="10800000" cy="198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95959"/>
                </a:solidFill>
                <a:latin typeface="Microsoft YaHei"/>
                <a:ea typeface="Microsoft YaHei"/>
              </a:rPr>
              <a:t>不是演示“模型会写代码”，而是演示“选择有证据”。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6799" y="802800"/>
            <a:ext cx="10800000" cy="198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95959"/>
                </a:solidFill>
                <a:latin typeface="Microsoft YaHei"/>
                <a:ea typeface="Microsoft YaHei"/>
              </a:rPr>
              <a:t>任务：给 FastAPI 待办 API 增加标签筛选 + 分页；6 条验收测试 A1–A6。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6282000"/>
            <a:ext cx="7200000" cy="18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8C8C8C"/>
                </a:solidFill>
                <a:latin typeface="Microsoft YaHei"/>
                <a:ea typeface="Microsoft YaHei"/>
              </a:rPr>
              <a:t>PromptForge · 提示词锻造台  ｜  deforoout队  ｜  Coding 赛道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8000" y="1242000"/>
            <a:ext cx="3258000" cy="2592000"/>
          </a:xfrm>
          <a:prstGeom prst="roundRect">
            <a:avLst>
              <a:gd name="adj" fmla="val 8000"/>
            </a:avLst>
          </a:prstGeom>
          <a:solidFill>
            <a:srgbClr val="FFF7F7"/>
          </a:solidFill>
          <a:ln w="1524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3999" y="1303200"/>
            <a:ext cx="3006000" cy="18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C00000"/>
                </a:solidFill>
                <a:latin typeface="Microsoft YaHei"/>
                <a:ea typeface="Microsoft YaHei"/>
              </a:rPr>
              <a:t>候选 A</a:t>
            </a:r>
            <a:r>
              <a:rPr sz="880" b="0">
                <a:solidFill>
                  <a:srgbClr val="595959"/>
                </a:solidFill>
                <a:latin typeface="Microsoft YaHei"/>
                <a:ea typeface="Microsoft YaHei"/>
              </a:rPr>
              <a:t>   raw-keyword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3999" y="1576800"/>
            <a:ext cx="3006000" cy="14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595959"/>
                </a:solidFill>
                <a:latin typeface="Microsoft YaHei"/>
                <a:ea typeface="Microsoft YaHei"/>
              </a:rPr>
              <a:t>只给一句话需求 + baseline，不给验收测试</a:t>
            </a:r>
          </a:p>
        </p:txBody>
      </p:sp>
      <p:sp>
        <p:nvSpPr>
          <p:cNvPr id="10" name="Oval 9"/>
          <p:cNvSpPr/>
          <p:nvPr/>
        </p:nvSpPr>
        <p:spPr>
          <a:xfrm>
            <a:off x="540000" y="1850400"/>
            <a:ext cx="180000" cy="18000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000" y="1843200"/>
            <a:ext cx="180000" cy="18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Microsoft YaHei"/>
                <a:ea typeface="Microsoft YaHei"/>
              </a:rPr>
              <a:t>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200" y="1836000"/>
            <a:ext cx="648000" cy="129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62626"/>
                </a:solidFill>
                <a:latin typeface="Microsoft YaHei"/>
                <a:ea typeface="Microsoft YaHei"/>
              </a:rPr>
              <a:t>A1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200" y="1954800"/>
            <a:ext cx="684000" cy="93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C00000"/>
                </a:solidFill>
                <a:latin typeface="Microsoft YaHei"/>
                <a:ea typeface="Microsoft YaHei"/>
              </a:rPr>
              <a:t>失败</a:t>
            </a:r>
          </a:p>
        </p:txBody>
      </p:sp>
      <p:sp>
        <p:nvSpPr>
          <p:cNvPr id="14" name="Oval 13"/>
          <p:cNvSpPr/>
          <p:nvPr/>
        </p:nvSpPr>
        <p:spPr>
          <a:xfrm>
            <a:off x="1540799" y="1850400"/>
            <a:ext cx="180000" cy="180000"/>
          </a:xfrm>
          <a:prstGeom prst="ellipse">
            <a:avLst/>
          </a:prstGeom>
          <a:solidFill>
            <a:srgbClr val="C00000"/>
          </a:solidFill>
          <a:ln w="1016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40799" y="1843200"/>
            <a:ext cx="180000" cy="18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3999" y="1836000"/>
            <a:ext cx="648000" cy="129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62626"/>
                </a:solidFill>
                <a:latin typeface="Microsoft YaHei"/>
                <a:ea typeface="Microsoft YaHei"/>
              </a:rPr>
              <a:t>A2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63999" y="1954800"/>
            <a:ext cx="684000" cy="93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2E7D32"/>
                </a:solidFill>
                <a:latin typeface="Microsoft YaHei"/>
                <a:ea typeface="Microsoft YaHei"/>
              </a:rPr>
              <a:t>通过</a:t>
            </a:r>
          </a:p>
        </p:txBody>
      </p:sp>
      <p:sp>
        <p:nvSpPr>
          <p:cNvPr id="18" name="Oval 17"/>
          <p:cNvSpPr/>
          <p:nvPr/>
        </p:nvSpPr>
        <p:spPr>
          <a:xfrm>
            <a:off x="2541600" y="1850400"/>
            <a:ext cx="180000" cy="18000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41600" y="1843200"/>
            <a:ext cx="180000" cy="18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Microsoft YaHei"/>
                <a:ea typeface="Microsoft YaHei"/>
              </a:rPr>
              <a:t>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64800" y="1836000"/>
            <a:ext cx="648000" cy="129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62626"/>
                </a:solidFill>
                <a:latin typeface="Microsoft YaHei"/>
                <a:ea typeface="Microsoft YaHei"/>
              </a:rPr>
              <a:t>A3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64800" y="1954800"/>
            <a:ext cx="684000" cy="93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C00000"/>
                </a:solidFill>
                <a:latin typeface="Microsoft YaHei"/>
                <a:ea typeface="Microsoft YaHei"/>
              </a:rPr>
              <a:t>失败</a:t>
            </a:r>
          </a:p>
        </p:txBody>
      </p:sp>
      <p:sp>
        <p:nvSpPr>
          <p:cNvPr id="22" name="Oval 21"/>
          <p:cNvSpPr/>
          <p:nvPr/>
        </p:nvSpPr>
        <p:spPr>
          <a:xfrm>
            <a:off x="540000" y="2210400"/>
            <a:ext cx="180000" cy="18000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0000" y="2203200"/>
            <a:ext cx="180000" cy="18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Microsoft YaHei"/>
                <a:ea typeface="Microsoft YaHei"/>
              </a:rPr>
              <a:t>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3200" y="2196000"/>
            <a:ext cx="648000" cy="129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62626"/>
                </a:solidFill>
                <a:latin typeface="Microsoft YaHei"/>
                <a:ea typeface="Microsoft YaHei"/>
              </a:rPr>
              <a:t>A4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3200" y="2314800"/>
            <a:ext cx="684000" cy="93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C00000"/>
                </a:solidFill>
                <a:latin typeface="Microsoft YaHei"/>
                <a:ea typeface="Microsoft YaHei"/>
              </a:rPr>
              <a:t>失败</a:t>
            </a:r>
          </a:p>
        </p:txBody>
      </p:sp>
      <p:sp>
        <p:nvSpPr>
          <p:cNvPr id="26" name="Oval 25"/>
          <p:cNvSpPr/>
          <p:nvPr/>
        </p:nvSpPr>
        <p:spPr>
          <a:xfrm>
            <a:off x="1540799" y="2210400"/>
            <a:ext cx="180000" cy="180000"/>
          </a:xfrm>
          <a:prstGeom prst="ellipse">
            <a:avLst/>
          </a:prstGeom>
          <a:solidFill>
            <a:srgbClr val="C00000"/>
          </a:solidFill>
          <a:ln w="1016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540799" y="2203200"/>
            <a:ext cx="180000" cy="18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63999" y="2196000"/>
            <a:ext cx="648000" cy="129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62626"/>
                </a:solidFill>
                <a:latin typeface="Microsoft YaHei"/>
                <a:ea typeface="Microsoft YaHei"/>
              </a:rPr>
              <a:t>A5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63999" y="2314800"/>
            <a:ext cx="684000" cy="93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2E7D32"/>
                </a:solidFill>
                <a:latin typeface="Microsoft YaHei"/>
                <a:ea typeface="Microsoft YaHei"/>
              </a:rPr>
              <a:t>通过</a:t>
            </a:r>
          </a:p>
        </p:txBody>
      </p:sp>
      <p:sp>
        <p:nvSpPr>
          <p:cNvPr id="30" name="Oval 29"/>
          <p:cNvSpPr/>
          <p:nvPr/>
        </p:nvSpPr>
        <p:spPr>
          <a:xfrm>
            <a:off x="2541600" y="2210400"/>
            <a:ext cx="180000" cy="180000"/>
          </a:xfrm>
          <a:prstGeom prst="ellipse">
            <a:avLst/>
          </a:prstGeom>
          <a:solidFill>
            <a:srgbClr val="C00000"/>
          </a:solidFill>
          <a:ln w="1016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541600" y="2203200"/>
            <a:ext cx="180000" cy="18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64800" y="2196000"/>
            <a:ext cx="648000" cy="129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62626"/>
                </a:solidFill>
                <a:latin typeface="Microsoft YaHei"/>
                <a:ea typeface="Microsoft YaHei"/>
              </a:rPr>
              <a:t>A6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64800" y="2314800"/>
            <a:ext cx="684000" cy="93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2E7D32"/>
                </a:solidFill>
                <a:latin typeface="Microsoft YaHei"/>
                <a:ea typeface="Microsoft YaHei"/>
              </a:rPr>
              <a:t>通过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3999" y="2707200"/>
            <a:ext cx="3006000" cy="288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C00000"/>
                </a:solidFill>
                <a:latin typeface="Microsoft YaHei"/>
                <a:ea typeface="Microsoft YaHei"/>
              </a:rPr>
              <a:t>3/6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3999" y="3103199"/>
            <a:ext cx="3006000" cy="18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262626"/>
                </a:solidFill>
                <a:latin typeface="Microsoft YaHei"/>
                <a:ea typeface="Microsoft YaHei"/>
              </a:rPr>
              <a:t>费用 ¥0.0096</a:t>
            </a:r>
            <a:r>
              <a:rPr sz="860" b="0">
                <a:solidFill>
                  <a:srgbClr val="262626"/>
                </a:solidFill>
                <a:latin typeface="Microsoft YaHei"/>
                <a:ea typeface="Microsoft YaHei"/>
              </a:rPr>
              <a:t>  ｜  模型 12.4s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3999" y="3283199"/>
            <a:ext cx="3006000" cy="18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595959"/>
                </a:solidFill>
                <a:latin typeface="Microsoft YaHei"/>
                <a:ea typeface="Microsoft YaHei"/>
              </a:rPr>
              <a:t>证据：evidence/A.json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870000" y="1242000"/>
            <a:ext cx="3258000" cy="2592000"/>
          </a:xfrm>
          <a:prstGeom prst="roundRect">
            <a:avLst>
              <a:gd name="adj" fmla="val 8000"/>
            </a:avLst>
          </a:prstGeom>
          <a:solidFill>
            <a:srgbClr val="F5FBF2"/>
          </a:solidFill>
          <a:ln w="1524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996000" y="1303200"/>
            <a:ext cx="3006000" cy="18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2E7D32"/>
                </a:solidFill>
                <a:latin typeface="Microsoft YaHei"/>
                <a:ea typeface="Microsoft YaHei"/>
              </a:rPr>
              <a:t>候选 B</a:t>
            </a:r>
            <a:r>
              <a:rPr sz="880" b="0">
                <a:solidFill>
                  <a:srgbClr val="595959"/>
                </a:solidFill>
                <a:latin typeface="Microsoft YaHei"/>
                <a:ea typeface="Microsoft YaHei"/>
              </a:rPr>
              <a:t>   compiled-srd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96000" y="1576800"/>
            <a:ext cx="3006000" cy="14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595959"/>
                </a:solidFill>
                <a:latin typeface="Microsoft YaHei"/>
                <a:ea typeface="Microsoft YaHei"/>
              </a:rPr>
              <a:t>SRD + 6 条验收 + 边界清单</a:t>
            </a:r>
          </a:p>
        </p:txBody>
      </p:sp>
      <p:sp>
        <p:nvSpPr>
          <p:cNvPr id="40" name="Oval 39"/>
          <p:cNvSpPr/>
          <p:nvPr/>
        </p:nvSpPr>
        <p:spPr>
          <a:xfrm>
            <a:off x="4031999" y="1850400"/>
            <a:ext cx="180000" cy="180000"/>
          </a:xfrm>
          <a:prstGeom prst="ellipse">
            <a:avLst/>
          </a:prstGeom>
          <a:solidFill>
            <a:srgbClr val="2E7D32"/>
          </a:solidFill>
          <a:ln w="1016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031999" y="1843200"/>
            <a:ext cx="180000" cy="18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55199" y="1836000"/>
            <a:ext cx="648000" cy="129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62626"/>
                </a:solidFill>
                <a:latin typeface="Microsoft YaHei"/>
                <a:ea typeface="Microsoft YaHei"/>
              </a:rPr>
              <a:t>A1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5199" y="1954800"/>
            <a:ext cx="684000" cy="93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2E7D32"/>
                </a:solidFill>
                <a:latin typeface="Microsoft YaHei"/>
                <a:ea typeface="Microsoft YaHei"/>
              </a:rPr>
              <a:t>通过</a:t>
            </a:r>
          </a:p>
        </p:txBody>
      </p:sp>
      <p:sp>
        <p:nvSpPr>
          <p:cNvPr id="44" name="Oval 43"/>
          <p:cNvSpPr/>
          <p:nvPr/>
        </p:nvSpPr>
        <p:spPr>
          <a:xfrm>
            <a:off x="5032799" y="1850400"/>
            <a:ext cx="180000" cy="180000"/>
          </a:xfrm>
          <a:prstGeom prst="ellipse">
            <a:avLst/>
          </a:prstGeom>
          <a:solidFill>
            <a:srgbClr val="2E7D32"/>
          </a:solidFill>
          <a:ln w="1016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32799" y="1843200"/>
            <a:ext cx="180000" cy="18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55999" y="1836000"/>
            <a:ext cx="648000" cy="129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62626"/>
                </a:solidFill>
                <a:latin typeface="Microsoft YaHei"/>
                <a:ea typeface="Microsoft YaHei"/>
              </a:rPr>
              <a:t>A2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255999" y="1954800"/>
            <a:ext cx="684000" cy="93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2E7D32"/>
                </a:solidFill>
                <a:latin typeface="Microsoft YaHei"/>
                <a:ea typeface="Microsoft YaHei"/>
              </a:rPr>
              <a:t>通过</a:t>
            </a:r>
          </a:p>
        </p:txBody>
      </p:sp>
      <p:sp>
        <p:nvSpPr>
          <p:cNvPr id="48" name="Oval 47"/>
          <p:cNvSpPr/>
          <p:nvPr/>
        </p:nvSpPr>
        <p:spPr>
          <a:xfrm>
            <a:off x="6033599" y="1850400"/>
            <a:ext cx="180000" cy="180000"/>
          </a:xfrm>
          <a:prstGeom prst="ellipse">
            <a:avLst/>
          </a:prstGeom>
          <a:solidFill>
            <a:srgbClr val="2E7D32"/>
          </a:solidFill>
          <a:ln w="1016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33599" y="1843200"/>
            <a:ext cx="180000" cy="18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✓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56800" y="1836000"/>
            <a:ext cx="648000" cy="129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62626"/>
                </a:solidFill>
                <a:latin typeface="Microsoft YaHei"/>
                <a:ea typeface="Microsoft YaHei"/>
              </a:rPr>
              <a:t>A3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56800" y="1954800"/>
            <a:ext cx="684000" cy="93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2E7D32"/>
                </a:solidFill>
                <a:latin typeface="Microsoft YaHei"/>
                <a:ea typeface="Microsoft YaHei"/>
              </a:rPr>
              <a:t>通过</a:t>
            </a:r>
          </a:p>
        </p:txBody>
      </p:sp>
      <p:sp>
        <p:nvSpPr>
          <p:cNvPr id="52" name="Oval 51"/>
          <p:cNvSpPr/>
          <p:nvPr/>
        </p:nvSpPr>
        <p:spPr>
          <a:xfrm>
            <a:off x="4031999" y="2210400"/>
            <a:ext cx="180000" cy="180000"/>
          </a:xfrm>
          <a:prstGeom prst="ellipse">
            <a:avLst/>
          </a:prstGeom>
          <a:solidFill>
            <a:srgbClr val="2E7D32"/>
          </a:solidFill>
          <a:ln w="1016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031999" y="2203200"/>
            <a:ext cx="180000" cy="18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✓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255199" y="2196000"/>
            <a:ext cx="648000" cy="129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62626"/>
                </a:solidFill>
                <a:latin typeface="Microsoft YaHei"/>
                <a:ea typeface="Microsoft YaHei"/>
              </a:rPr>
              <a:t>A4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255199" y="2314800"/>
            <a:ext cx="684000" cy="93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2E7D32"/>
                </a:solidFill>
                <a:latin typeface="Microsoft YaHei"/>
                <a:ea typeface="Microsoft YaHei"/>
              </a:rPr>
              <a:t>通过</a:t>
            </a:r>
          </a:p>
        </p:txBody>
      </p:sp>
      <p:sp>
        <p:nvSpPr>
          <p:cNvPr id="56" name="Oval 55"/>
          <p:cNvSpPr/>
          <p:nvPr/>
        </p:nvSpPr>
        <p:spPr>
          <a:xfrm>
            <a:off x="5032799" y="2210400"/>
            <a:ext cx="180000" cy="180000"/>
          </a:xfrm>
          <a:prstGeom prst="ellipse">
            <a:avLst/>
          </a:prstGeom>
          <a:solidFill>
            <a:srgbClr val="2E7D32"/>
          </a:solidFill>
          <a:ln w="1016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032799" y="2203200"/>
            <a:ext cx="180000" cy="18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✓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255999" y="2196000"/>
            <a:ext cx="648000" cy="129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62626"/>
                </a:solidFill>
                <a:latin typeface="Microsoft YaHei"/>
                <a:ea typeface="Microsoft YaHei"/>
              </a:rPr>
              <a:t>A5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255999" y="2314800"/>
            <a:ext cx="684000" cy="93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2E7D32"/>
                </a:solidFill>
                <a:latin typeface="Microsoft YaHei"/>
                <a:ea typeface="Microsoft YaHei"/>
              </a:rPr>
              <a:t>通过</a:t>
            </a:r>
          </a:p>
        </p:txBody>
      </p:sp>
      <p:sp>
        <p:nvSpPr>
          <p:cNvPr id="60" name="Oval 59"/>
          <p:cNvSpPr/>
          <p:nvPr/>
        </p:nvSpPr>
        <p:spPr>
          <a:xfrm>
            <a:off x="6033599" y="2210400"/>
            <a:ext cx="180000" cy="180000"/>
          </a:xfrm>
          <a:prstGeom prst="ellipse">
            <a:avLst/>
          </a:prstGeom>
          <a:solidFill>
            <a:srgbClr val="2E7D32"/>
          </a:solidFill>
          <a:ln w="1016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033599" y="2203200"/>
            <a:ext cx="180000" cy="18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✓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256800" y="2196000"/>
            <a:ext cx="648000" cy="129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62626"/>
                </a:solidFill>
                <a:latin typeface="Microsoft YaHei"/>
                <a:ea typeface="Microsoft YaHei"/>
              </a:rPr>
              <a:t>A6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56800" y="2314800"/>
            <a:ext cx="684000" cy="93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2E7D32"/>
                </a:solidFill>
                <a:latin typeface="Microsoft YaHei"/>
                <a:ea typeface="Microsoft YaHei"/>
              </a:rPr>
              <a:t>通过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996000" y="2707200"/>
            <a:ext cx="3006000" cy="288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E7D32"/>
                </a:solidFill>
                <a:latin typeface="Microsoft YaHei"/>
                <a:ea typeface="Microsoft YaHei"/>
              </a:rPr>
              <a:t>6/6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996000" y="3103199"/>
            <a:ext cx="3006000" cy="18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262626"/>
                </a:solidFill>
                <a:latin typeface="Microsoft YaHei"/>
                <a:ea typeface="Microsoft YaHei"/>
              </a:rPr>
              <a:t>费用 ¥0.0055</a:t>
            </a:r>
            <a:r>
              <a:rPr sz="860" b="0">
                <a:solidFill>
                  <a:srgbClr val="262626"/>
                </a:solidFill>
                <a:latin typeface="Microsoft YaHei"/>
                <a:ea typeface="Microsoft YaHei"/>
              </a:rPr>
              <a:t>  ｜  模型 5.7s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996000" y="3283199"/>
            <a:ext cx="3006000" cy="18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595959"/>
                </a:solidFill>
                <a:latin typeface="Microsoft YaHei"/>
                <a:ea typeface="Microsoft YaHei"/>
              </a:rPr>
              <a:t>证据：evidence/B.json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362000" y="1144800"/>
            <a:ext cx="4464000" cy="18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C00000"/>
                </a:solidFill>
                <a:latin typeface="Microsoft YaHei"/>
                <a:ea typeface="Microsoft YaHei"/>
              </a:rPr>
              <a:t>关键用户路径</a:t>
            </a:r>
          </a:p>
        </p:txBody>
      </p:sp>
      <p:sp>
        <p:nvSpPr>
          <p:cNvPr id="68" name="Oval 67"/>
          <p:cNvSpPr/>
          <p:nvPr/>
        </p:nvSpPr>
        <p:spPr>
          <a:xfrm>
            <a:off x="7380000" y="1440000"/>
            <a:ext cx="223200" cy="22320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380000" y="1432800"/>
            <a:ext cx="223200" cy="18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①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686000" y="1414800"/>
            <a:ext cx="3960000" cy="14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864"/>
                </a:solidFill>
                <a:latin typeface="Microsoft YaHei"/>
                <a:ea typeface="Microsoft YaHei"/>
              </a:rPr>
              <a:t>输入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686000" y="1548000"/>
            <a:ext cx="3960000" cy="198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>
                <a:solidFill>
                  <a:srgbClr val="595959"/>
                </a:solidFill>
                <a:latin typeface="Microsoft YaHei"/>
                <a:ea typeface="Microsoft YaHei"/>
              </a:rPr>
              <a:t>一句话需求 / 关键词 / 现有仓库</a:t>
            </a:r>
          </a:p>
        </p:txBody>
      </p:sp>
      <p:sp>
        <p:nvSpPr>
          <p:cNvPr id="72" name="Oval 71"/>
          <p:cNvSpPr/>
          <p:nvPr/>
        </p:nvSpPr>
        <p:spPr>
          <a:xfrm>
            <a:off x="7380000" y="1890000"/>
            <a:ext cx="223200" cy="223200"/>
          </a:xfrm>
          <a:prstGeom prst="ellipse">
            <a:avLst/>
          </a:prstGeom>
          <a:solidFill>
            <a:srgbClr val="E7EEF8"/>
          </a:solidFill>
          <a:ln w="10160">
            <a:solidFill>
              <a:srgbClr val="B4C6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380000" y="1882800"/>
            <a:ext cx="223200" cy="18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864"/>
                </a:solidFill>
                <a:latin typeface="Microsoft YaHei"/>
                <a:ea typeface="Microsoft YaHei"/>
              </a:rPr>
              <a:t>②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686000" y="1864800"/>
            <a:ext cx="3960000" cy="14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864"/>
                </a:solidFill>
                <a:latin typeface="Microsoft YaHei"/>
                <a:ea typeface="Microsoft YaHei"/>
              </a:rPr>
              <a:t>回显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686000" y="1998000"/>
            <a:ext cx="3960000" cy="198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>
                <a:solidFill>
                  <a:srgbClr val="595959"/>
                </a:solidFill>
                <a:latin typeface="Microsoft YaHei"/>
                <a:ea typeface="Microsoft YaHei"/>
              </a:rPr>
              <a:t>SRD + 6 条可执行验收，用户确认</a:t>
            </a:r>
          </a:p>
        </p:txBody>
      </p:sp>
      <p:sp>
        <p:nvSpPr>
          <p:cNvPr id="76" name="Oval 75"/>
          <p:cNvSpPr/>
          <p:nvPr/>
        </p:nvSpPr>
        <p:spPr>
          <a:xfrm>
            <a:off x="7380000" y="2340000"/>
            <a:ext cx="223200" cy="223200"/>
          </a:xfrm>
          <a:prstGeom prst="ellipse">
            <a:avLst/>
          </a:prstGeom>
          <a:solidFill>
            <a:srgbClr val="E7EEF8"/>
          </a:solidFill>
          <a:ln w="10160">
            <a:solidFill>
              <a:srgbClr val="B4C6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380000" y="2332800"/>
            <a:ext cx="223200" cy="18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864"/>
                </a:solidFill>
                <a:latin typeface="Microsoft YaHei"/>
                <a:ea typeface="Microsoft YaHei"/>
              </a:rPr>
              <a:t>③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686000" y="2314800"/>
            <a:ext cx="3960000" cy="14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864"/>
                </a:solidFill>
                <a:latin typeface="Microsoft YaHei"/>
                <a:ea typeface="Microsoft YaHei"/>
              </a:rPr>
              <a:t>生成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686000" y="2448000"/>
            <a:ext cx="3960000" cy="198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>
                <a:solidFill>
                  <a:srgbClr val="595959"/>
                </a:solidFill>
                <a:latin typeface="Microsoft YaHei"/>
                <a:ea typeface="Microsoft YaHei"/>
              </a:rPr>
              <a:t>3~5 个“假设不同”的候选提示词</a:t>
            </a:r>
          </a:p>
        </p:txBody>
      </p:sp>
      <p:sp>
        <p:nvSpPr>
          <p:cNvPr id="80" name="Oval 79"/>
          <p:cNvSpPr/>
          <p:nvPr/>
        </p:nvSpPr>
        <p:spPr>
          <a:xfrm>
            <a:off x="7380000" y="2790000"/>
            <a:ext cx="223200" cy="223200"/>
          </a:xfrm>
          <a:prstGeom prst="ellipse">
            <a:avLst/>
          </a:prstGeom>
          <a:solidFill>
            <a:srgbClr val="E7EEF8"/>
          </a:solidFill>
          <a:ln w="10160">
            <a:solidFill>
              <a:srgbClr val="B4C6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380000" y="2782800"/>
            <a:ext cx="223200" cy="18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864"/>
                </a:solidFill>
                <a:latin typeface="Microsoft YaHei"/>
                <a:ea typeface="Microsoft YaHei"/>
              </a:rPr>
              <a:t>④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686000" y="2764800"/>
            <a:ext cx="3960000" cy="14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864"/>
                </a:solidFill>
                <a:latin typeface="Microsoft YaHei"/>
                <a:ea typeface="Microsoft YaHei"/>
              </a:rPr>
              <a:t>执行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686000" y="2898000"/>
            <a:ext cx="3960000" cy="198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>
                <a:solidFill>
                  <a:srgbClr val="595959"/>
                </a:solidFill>
                <a:latin typeface="Microsoft YaHei"/>
                <a:ea typeface="Microsoft YaHei"/>
              </a:rPr>
              <a:t>多模型并行生成 + 沙箱真跑 pytest</a:t>
            </a:r>
          </a:p>
        </p:txBody>
      </p:sp>
      <p:sp>
        <p:nvSpPr>
          <p:cNvPr id="84" name="Oval 83"/>
          <p:cNvSpPr/>
          <p:nvPr/>
        </p:nvSpPr>
        <p:spPr>
          <a:xfrm>
            <a:off x="7380000" y="3240000"/>
            <a:ext cx="223200" cy="223200"/>
          </a:xfrm>
          <a:prstGeom prst="ellipse">
            <a:avLst/>
          </a:prstGeom>
          <a:solidFill>
            <a:srgbClr val="E7EEF8"/>
          </a:solidFill>
          <a:ln w="10160">
            <a:solidFill>
              <a:srgbClr val="B4C6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380000" y="3232799"/>
            <a:ext cx="223200" cy="18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864"/>
                </a:solidFill>
                <a:latin typeface="Microsoft YaHei"/>
                <a:ea typeface="Microsoft YaHei"/>
              </a:rPr>
              <a:t>⑤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686000" y="3214800"/>
            <a:ext cx="3960000" cy="14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864"/>
                </a:solidFill>
                <a:latin typeface="Microsoft YaHei"/>
                <a:ea typeface="Microsoft YaHei"/>
              </a:rPr>
              <a:t>评审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686000" y="3347999"/>
            <a:ext cx="3960000" cy="198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>
                <a:solidFill>
                  <a:srgbClr val="595959"/>
                </a:solidFill>
                <a:latin typeface="Microsoft YaHei"/>
                <a:ea typeface="Microsoft YaHei"/>
              </a:rPr>
              <a:t>证据回读 + 异构评委 + 对比看板</a:t>
            </a:r>
          </a:p>
        </p:txBody>
      </p:sp>
      <p:sp>
        <p:nvSpPr>
          <p:cNvPr id="88" name="Oval 87"/>
          <p:cNvSpPr/>
          <p:nvPr/>
        </p:nvSpPr>
        <p:spPr>
          <a:xfrm>
            <a:off x="7380000" y="3690000"/>
            <a:ext cx="223200" cy="22320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380000" y="3682799"/>
            <a:ext cx="223200" cy="18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⑥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686000" y="3664800"/>
            <a:ext cx="3960000" cy="14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864"/>
                </a:solidFill>
                <a:latin typeface="Microsoft YaHei"/>
                <a:ea typeface="Microsoft YaHei"/>
              </a:rPr>
              <a:t>决策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686000" y="3797999"/>
            <a:ext cx="3960000" cy="198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>
                <a:solidFill>
                  <a:srgbClr val="595959"/>
                </a:solidFill>
                <a:latin typeface="Microsoft YaHei"/>
                <a:ea typeface="Microsoft YaHei"/>
              </a:rPr>
              <a:t>推荐 + 次优 + 成本账单 + 交付包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68000" y="3859200"/>
            <a:ext cx="11196000" cy="162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1F3864"/>
                </a:solidFill>
                <a:latin typeface="Microsoft YaHei"/>
                <a:ea typeface="Microsoft YaHei"/>
              </a:rPr>
              <a:t>根因对照：</a:t>
            </a:r>
            <a:r>
              <a:rPr sz="780" b="0">
                <a:solidFill>
                  <a:srgbClr val="595959"/>
                </a:solidFill>
                <a:latin typeface="Microsoft YaHei"/>
                <a:ea typeface="Microsoft YaHei"/>
              </a:rPr>
              <a:t>A 把 limit 默认写成 10、响应模型缺 limit/offset；B 用 Query(default=20, ge=1, le=100) 并返回完整字段。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378000" y="4050000"/>
            <a:ext cx="11430000" cy="66600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143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68000" y="4096800"/>
            <a:ext cx="11250000" cy="558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2E7D32"/>
                </a:solidFill>
                <a:latin typeface="Microsoft YaHei"/>
                <a:ea typeface="Microsoft YaHei"/>
              </a:rPr>
              <a:t>决策：推荐 B（6/6，硬约束满足）</a:t>
            </a:r>
            <a:r>
              <a:rPr sz="940" b="0">
                <a:solidFill>
                  <a:srgbClr val="262626"/>
                </a:solidFill>
                <a:latin typeface="Microsoft YaHei"/>
                <a:ea typeface="Microsoft YaHei"/>
              </a:rPr>
              <a:t>    A 3/6（A1/A3/A4 失败）不满足硬约束；同等任务下 B 还更快、更便宜。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595959"/>
                </a:solidFill>
                <a:latin typeface="Microsoft YaHei"/>
                <a:ea typeface="Microsoft YaHei"/>
              </a:rPr>
              <a:t>依据：pytest 原始输出 · evidence.json · token 费用 ｜ 数据来自真实运行，不手填。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378000" y="4806000"/>
            <a:ext cx="11430000" cy="84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68000" y="4860000"/>
            <a:ext cx="11250000" cy="7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940" b="1">
                <a:solidFill>
                  <a:srgbClr val="1F3864"/>
                </a:solidFill>
                <a:latin typeface="Microsoft YaHei"/>
                <a:ea typeface="Microsoft YaHei"/>
              </a:rPr>
              <a:t>本次运行  </a:t>
            </a: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</a:rPr>
              <a:t>runs/demo-004  ｜  2026-10-27  ｜  deepseek-flash  ｜  空闲时段价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940" b="1">
                <a:solidFill>
                  <a:srgbClr val="1F3864"/>
                </a:solidFill>
                <a:latin typeface="Microsoft YaHei"/>
                <a:ea typeface="Microsoft YaHei"/>
              </a:rPr>
              <a:t>交付物  </a:t>
            </a: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</a:rPr>
              <a:t>CLI 一条命令 · candidates/A、B/main.py · evidence/{baseline,A,B}.json · decision.md · 60 秒录屏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1F3864"/>
                </a:solidFill>
                <a:latin typeface="Microsoft YaHei"/>
                <a:ea typeface="Microsoft YaHei"/>
              </a:rPr>
              <a:t>代码仓库  </a:t>
            </a: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</a:rPr>
              <a:t>github.com/dissill/LLM  ｜  数据规则：图中红绿/分数/费用全部来自真实日志；不伪造、不手填。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68000" y="5695200"/>
            <a:ext cx="11250000" cy="18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95959"/>
                </a:solidFill>
                <a:latin typeface="Microsoft YaHei"/>
                <a:ea typeface="Microsoft YaHei"/>
              </a:rPr>
              <a:t>口径：</a:t>
            </a:r>
            <a:r>
              <a:rPr sz="800" b="0">
                <a:solidFill>
                  <a:srgbClr val="595959"/>
                </a:solidFill>
                <a:latin typeface="Microsoft YaHei"/>
                <a:ea typeface="Microsoft YaHei"/>
              </a:rPr>
              <a:t>v0.1 为单任务、单模型 A/B + 规则/测试决策，结论用于演示，不宣称统计显著；异构评委与完整机机联动为设计目标。</a:t>
            </a:r>
          </a:p>
        </p:txBody>
      </p:sp>
    </p:spTree>
    <p:extLst>
      <p:ext uri="{BB962C8B-B14F-4D97-AF65-F5344CB8AC3E}">
        <p14:creationId xmlns:p14="http://schemas.microsoft.com/office/powerpoint/2010/main" val="1462796459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800" cy="68580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78000" y="259200"/>
            <a:ext cx="43200" cy="3780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6000" y="187200"/>
            <a:ext cx="9360000" cy="45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C00000"/>
                </a:solidFill>
                <a:latin typeface="Microsoft YaHei"/>
                <a:ea typeface="Microsoft YaHei"/>
              </a:rPr>
              <a:t>机制展开：为什么这不是“让模型打个分”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6799" y="604800"/>
            <a:ext cx="10800000" cy="198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95959"/>
                </a:solidFill>
                <a:latin typeface="Microsoft YaHei"/>
                <a:ea typeface="Microsoft YaHei"/>
              </a:rPr>
              <a:t>补上软件工程的三件基础设施：可判定的需求、可验证的证据、可回放的版本。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6799" y="802800"/>
            <a:ext cx="10800000" cy="198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95959"/>
                </a:solidFill>
                <a:latin typeface="Microsoft YaHei"/>
                <a:ea typeface="Microsoft YaHei"/>
              </a:rPr>
              <a:t>每个候选必须真实执行；评委只能基于同一份证据打分；推荐必须能指到测试输出与费用。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" y="6282000"/>
            <a:ext cx="7200000" cy="18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8C8C8C"/>
                </a:solidFill>
                <a:latin typeface="Microsoft YaHei"/>
                <a:ea typeface="Microsoft YaHei"/>
              </a:rPr>
              <a:t>PromptForge · 提示词锻造台  ｜  deforoout队  ｜  Coding 赛道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8000" y="1296000"/>
            <a:ext cx="5490000" cy="1835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78000" y="1296000"/>
            <a:ext cx="36000" cy="1835999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3999" y="1360800"/>
            <a:ext cx="5220000" cy="162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>
                <a:solidFill>
                  <a:srgbClr val="C00000"/>
                </a:solidFill>
                <a:latin typeface="Microsoft YaHei"/>
                <a:ea typeface="Microsoft YaHei"/>
              </a:rPr>
              <a:t>01  需求编译 SRD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3999" y="1533600"/>
            <a:ext cx="5220000" cy="14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>
                <a:solidFill>
                  <a:srgbClr val="1F3864"/>
                </a:solidFill>
                <a:latin typeface="Microsoft YaHei"/>
                <a:ea typeface="Microsoft YaHei"/>
              </a:rPr>
              <a:t>把“一句话”变成可判定的任务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3999" y="1710000"/>
            <a:ext cx="5166000" cy="91799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C00000"/>
                </a:solidFill>
                <a:latin typeface="Microsoft YaHei"/>
                <a:ea typeface="Microsoft YaHei"/>
              </a:rPr>
              <a:t>• </a:t>
            </a:r>
            <a:r>
              <a:rPr sz="880" b="0">
                <a:solidFill>
                  <a:srgbClr val="262626"/>
                </a:solidFill>
                <a:latin typeface="Microsoft YaHei"/>
                <a:ea typeface="Microsoft YaHei"/>
              </a:rPr>
              <a:t>关键词/口语 → 目标、约束、验收标准、输出契约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C00000"/>
                </a:solidFill>
                <a:latin typeface="Microsoft YaHei"/>
                <a:ea typeface="Microsoft YaHei"/>
              </a:rPr>
              <a:t>• </a:t>
            </a:r>
            <a:r>
              <a:rPr sz="880" b="0">
                <a:solidFill>
                  <a:srgbClr val="262626"/>
                </a:solidFill>
                <a:latin typeface="Microsoft YaHei"/>
                <a:ea typeface="Microsoft YaHei"/>
              </a:rPr>
              <a:t>3~5 个澄清问题，用户确认或修改后才生成候选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C00000"/>
                </a:solidFill>
                <a:latin typeface="Microsoft YaHei"/>
                <a:ea typeface="Microsoft YaHei"/>
              </a:rPr>
              <a:t>• </a:t>
            </a:r>
            <a:r>
              <a:rPr sz="880" b="0">
                <a:solidFill>
                  <a:srgbClr val="262626"/>
                </a:solidFill>
                <a:latin typeface="Microsoft YaHei"/>
                <a:ea typeface="Microsoft YaHei"/>
              </a:rPr>
              <a:t>验收标准必须可执行：测试 / 命令 / schema，不接受“看起来对”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3999" y="2707200"/>
            <a:ext cx="5166000" cy="32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95959"/>
                </a:solidFill>
                <a:latin typeface="Microsoft YaHei"/>
                <a:ea typeface="Microsoft YaHei"/>
              </a:rPr>
              <a:t>实测 / 例子  </a:t>
            </a:r>
            <a:r>
              <a:rPr sz="819" b="0">
                <a:solidFill>
                  <a:srgbClr val="595959"/>
                </a:solidFill>
                <a:latin typeface="Microsoft YaHei"/>
                <a:ea typeface="Microsoft YaHei"/>
              </a:rPr>
              <a:t>例：给待办 API 加标签筛选 + 分页 → 6 条验收 A1–A6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83999" y="1296000"/>
            <a:ext cx="5490000" cy="1835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83999" y="1296000"/>
            <a:ext cx="36000" cy="1835999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0000" y="1360800"/>
            <a:ext cx="5220000" cy="162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>
                <a:solidFill>
                  <a:srgbClr val="0070C0"/>
                </a:solidFill>
                <a:latin typeface="Microsoft YaHei"/>
                <a:ea typeface="Microsoft YaHei"/>
              </a:rPr>
              <a:t>02  候选组合 Portfolio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0000" y="1533600"/>
            <a:ext cx="5220000" cy="14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>
                <a:solidFill>
                  <a:srgbClr val="1F3864"/>
                </a:solidFill>
                <a:latin typeface="Microsoft YaHei"/>
                <a:ea typeface="Microsoft YaHei"/>
              </a:rPr>
              <a:t>假设不同，不是措辞不同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0000" y="1710000"/>
            <a:ext cx="5166000" cy="91799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0070C0"/>
                </a:solidFill>
                <a:latin typeface="Microsoft YaHei"/>
                <a:ea typeface="Microsoft YaHei"/>
              </a:rPr>
              <a:t>• </a:t>
            </a:r>
            <a:r>
              <a:rPr sz="880" b="0">
                <a:solidFill>
                  <a:srgbClr val="262626"/>
                </a:solidFill>
                <a:latin typeface="Microsoft YaHei"/>
                <a:ea typeface="Microsoft YaHei"/>
              </a:rPr>
              <a:t>3~5 个候选分别对应不同架构假设、验证策略、边界处理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0070C0"/>
                </a:solidFill>
                <a:latin typeface="Microsoft YaHei"/>
                <a:ea typeface="Microsoft YaHei"/>
              </a:rPr>
              <a:t>• </a:t>
            </a:r>
            <a:r>
              <a:rPr sz="880" b="0">
                <a:solidFill>
                  <a:srgbClr val="262626"/>
                </a:solidFill>
                <a:latin typeface="Microsoft YaHei"/>
                <a:ea typeface="Microsoft YaHei"/>
              </a:rPr>
              <a:t>相似度去重 + 覆盖度检查，避免“同一句话换三种说法”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0070C0"/>
                </a:solidFill>
                <a:latin typeface="Microsoft YaHei"/>
                <a:ea typeface="Microsoft YaHei"/>
              </a:rPr>
              <a:t>• </a:t>
            </a:r>
            <a:r>
              <a:rPr sz="880" b="0">
                <a:solidFill>
                  <a:srgbClr val="262626"/>
                </a:solidFill>
                <a:latin typeface="Microsoft YaHei"/>
                <a:ea typeface="Microsoft YaHei"/>
              </a:rPr>
              <a:t>每个候选声明执行契约：输出格式、验收命令、禁止项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0000" y="2707200"/>
            <a:ext cx="5166000" cy="32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95959"/>
                </a:solidFill>
                <a:latin typeface="Microsoft YaHei"/>
                <a:ea typeface="Microsoft YaHei"/>
              </a:rPr>
              <a:t>实测 / 例子  </a:t>
            </a:r>
            <a:r>
              <a:rPr sz="819" b="0">
                <a:solidFill>
                  <a:srgbClr val="595959"/>
                </a:solidFill>
                <a:latin typeface="Microsoft YaHei"/>
                <a:ea typeface="Microsoft YaHei"/>
              </a:rPr>
              <a:t>例：A 只给一句话；B 给 SRD + 验收 + 边界；差异是假设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8000" y="3294000"/>
            <a:ext cx="5490000" cy="1835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78000" y="3294000"/>
            <a:ext cx="36000" cy="1835999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3999" y="3358800"/>
            <a:ext cx="5220000" cy="162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>
                <a:solidFill>
                  <a:srgbClr val="0070C0"/>
                </a:solidFill>
                <a:latin typeface="Microsoft YaHei"/>
                <a:ea typeface="Microsoft YaHei"/>
              </a:rPr>
              <a:t>03  证据包 Evidence Packet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3999" y="3531600"/>
            <a:ext cx="5220000" cy="14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>
                <a:solidFill>
                  <a:srgbClr val="1F3864"/>
                </a:solidFill>
                <a:latin typeface="Microsoft YaHei"/>
                <a:ea typeface="Microsoft YaHei"/>
              </a:rPr>
              <a:t>机器实际做成了什么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3999" y="3708000"/>
            <a:ext cx="5166000" cy="91799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0070C0"/>
                </a:solidFill>
                <a:latin typeface="Microsoft YaHei"/>
                <a:ea typeface="Microsoft YaHei"/>
              </a:rPr>
              <a:t>• </a:t>
            </a:r>
            <a:r>
              <a:rPr sz="880" b="0">
                <a:solidFill>
                  <a:srgbClr val="262626"/>
                </a:solidFill>
                <a:latin typeface="Microsoft YaHei"/>
                <a:ea typeface="Microsoft YaHei"/>
              </a:rPr>
              <a:t>代码类强证据：pytest、编译、静态分析、性能、依赖扫描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0070C0"/>
                </a:solidFill>
                <a:latin typeface="Microsoft YaHei"/>
                <a:ea typeface="Microsoft YaHei"/>
              </a:rPr>
              <a:t>• </a:t>
            </a:r>
            <a:r>
              <a:rPr sz="880" b="0">
                <a:solidFill>
                  <a:srgbClr val="262626"/>
                </a:solidFill>
                <a:latin typeface="Microsoft YaHei"/>
                <a:ea typeface="Microsoft YaHei"/>
              </a:rPr>
              <a:t>UI/图表/视频可选多模态：关键帧 + OCR/ASR + 元数据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0070C0"/>
                </a:solidFill>
                <a:latin typeface="Microsoft YaHei"/>
                <a:ea typeface="Microsoft YaHei"/>
              </a:rPr>
              <a:t>• </a:t>
            </a:r>
            <a:r>
              <a:rPr sz="880" b="0">
                <a:solidFill>
                  <a:srgbClr val="262626"/>
                </a:solidFill>
                <a:latin typeface="Microsoft YaHei"/>
                <a:ea typeface="Microsoft YaHei"/>
              </a:rPr>
              <a:t>每条结论带 evidence_refs 与哈希，支持离线回放与审计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3999" y="4705200"/>
            <a:ext cx="5166000" cy="32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95959"/>
                </a:solidFill>
                <a:latin typeface="Microsoft YaHei"/>
                <a:ea typeface="Microsoft YaHei"/>
              </a:rPr>
              <a:t>实测 / 例子  </a:t>
            </a:r>
            <a:r>
              <a:rPr sz="819" b="0">
                <a:solidFill>
                  <a:srgbClr val="595959"/>
                </a:solidFill>
                <a:latin typeface="Microsoft YaHei"/>
                <a:ea typeface="Microsoft YaHei"/>
              </a:rPr>
              <a:t>例：A 3/6，失败 A1/A3/A4；每条失败都指向 pytest 用例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83999" y="3294000"/>
            <a:ext cx="5490000" cy="1835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083999" y="3294000"/>
            <a:ext cx="36000" cy="1835999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0000" y="3358800"/>
            <a:ext cx="5220000" cy="162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>
                <a:solidFill>
                  <a:srgbClr val="C00000"/>
                </a:solidFill>
                <a:latin typeface="Microsoft YaHei"/>
                <a:ea typeface="Microsoft YaHei"/>
              </a:rPr>
              <a:t>04  评审与决策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0000" y="3531600"/>
            <a:ext cx="5220000" cy="14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>
                <a:solidFill>
                  <a:srgbClr val="1F3864"/>
                </a:solidFill>
                <a:latin typeface="Microsoft YaHei"/>
                <a:ea typeface="Microsoft YaHei"/>
              </a:rPr>
              <a:t>从评分到可解释的选择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0000" y="3708000"/>
            <a:ext cx="5166000" cy="91799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C00000"/>
                </a:solidFill>
                <a:latin typeface="Microsoft YaHei"/>
                <a:ea typeface="Microsoft YaHei"/>
              </a:rPr>
              <a:t>• </a:t>
            </a:r>
            <a:r>
              <a:rPr sz="880" b="0">
                <a:solidFill>
                  <a:srgbClr val="262626"/>
                </a:solidFill>
                <a:latin typeface="Microsoft YaHei"/>
                <a:ea typeface="Microsoft YaHei"/>
              </a:rPr>
              <a:t>异构评委：不同厂商/规模，匿名盲评 + 换序 + 偏差校正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C00000"/>
                </a:solidFill>
                <a:latin typeface="Microsoft YaHei"/>
                <a:ea typeface="Microsoft YaHei"/>
              </a:rPr>
              <a:t>• </a:t>
            </a:r>
            <a:r>
              <a:rPr sz="880" b="0">
                <a:solidFill>
                  <a:srgbClr val="262626"/>
                </a:solidFill>
                <a:latin typeface="Microsoft YaHei"/>
                <a:ea typeface="Microsoft YaHei"/>
              </a:rPr>
              <a:t>一致性检验 Krippendorff's α；低一致性加评委或转人工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C00000"/>
                </a:solidFill>
                <a:latin typeface="Microsoft YaHei"/>
                <a:ea typeface="Microsoft YaHei"/>
              </a:rPr>
              <a:t>• </a:t>
            </a:r>
            <a:r>
              <a:rPr sz="880" b="0">
                <a:solidFill>
                  <a:srgbClr val="262626"/>
                </a:solidFill>
                <a:latin typeface="Microsoft YaHei"/>
                <a:ea typeface="Microsoft YaHei"/>
              </a:rPr>
              <a:t>硬约束过滤 → Pareto → TOPSIS + 置信区间；CI 内不强行排序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0000" y="4705200"/>
            <a:ext cx="5166000" cy="32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95959"/>
                </a:solidFill>
                <a:latin typeface="Microsoft YaHei"/>
                <a:ea typeface="Microsoft YaHei"/>
              </a:rPr>
              <a:t>实测 / 例子  </a:t>
            </a:r>
            <a:r>
              <a:rPr sz="819" b="0">
                <a:solidFill>
                  <a:srgbClr val="595959"/>
                </a:solidFill>
                <a:latin typeface="Microsoft YaHei"/>
                <a:ea typeface="Microsoft YaHei"/>
              </a:rPr>
              <a:t>例：硬约束先过滤 A；B 在质量/成本/时延上更优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78000" y="5490000"/>
            <a:ext cx="11430000" cy="63000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143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8000" y="5536800"/>
            <a:ext cx="11250000" cy="54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960" b="1">
                <a:solidFill>
                  <a:srgbClr val="1F3864"/>
                </a:solidFill>
                <a:latin typeface="Microsoft YaHei"/>
                <a:ea typeface="Microsoft YaHei"/>
              </a:rPr>
              <a:t>双形态与单一事实源：</a:t>
            </a:r>
            <a:r>
              <a:rPr sz="919" b="0">
                <a:solidFill>
                  <a:srgbClr val="262626"/>
                </a:solidFill>
                <a:latin typeface="Microsoft YaHei"/>
                <a:ea typeface="Microsoft YaHei"/>
              </a:rPr>
              <a:t>Orchestrator 负责跨模型、多候选、可审计决策；Skill 负责单会话内低延迟自迭代；两者共享 SRD / Evidence / DAG。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1F3864"/>
                </a:solidFill>
                <a:latin typeface="Microsoft YaHei"/>
                <a:ea typeface="Microsoft YaHei"/>
              </a:rPr>
              <a:t>预算：</a:t>
            </a:r>
            <a:r>
              <a:rPr sz="919" b="0">
                <a:solidFill>
                  <a:srgbClr val="262626"/>
                </a:solidFill>
                <a:latin typeface="Microsoft YaHei"/>
                <a:ea typeface="Microsoft YaHei"/>
              </a:rPr>
              <a:t>Token Ledger 逐次计量，候选剪枝 + 早停；预算耗尽前输出当前最优，而不是“再跑一轮看看”。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800" cy="68580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78000" y="259200"/>
            <a:ext cx="43200" cy="3780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6000" y="187200"/>
            <a:ext cx="9360000" cy="45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C00000"/>
                </a:solidFill>
                <a:latin typeface="Microsoft YaHei"/>
                <a:ea typeface="Microsoft YaHei"/>
              </a:rPr>
              <a:t>机机联动：让执行结果成为下一次决策的证据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6799" y="604800"/>
            <a:ext cx="10800000" cy="198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95959"/>
                </a:solidFill>
                <a:latin typeface="Microsoft YaHei"/>
                <a:ea typeface="Microsoft YaHei"/>
              </a:rPr>
              <a:t>不是让多个模型聊天，而是让规划机、执行机、评审机通过 IAOV 协议闭环。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6799" y="802800"/>
            <a:ext cx="10800000" cy="198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95959"/>
                </a:solidFill>
                <a:latin typeface="Microsoft YaHei"/>
                <a:ea typeface="Microsoft YaHei"/>
              </a:rPr>
              <a:t>Coding 的真相在测试、编译器和运行环境里；机机联动把“机器实际做了什么”变成可回读的结构化观察。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" y="6282000"/>
            <a:ext cx="7200000" cy="18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8C8C8C"/>
                </a:solidFill>
                <a:latin typeface="Microsoft YaHei"/>
                <a:ea typeface="Microsoft YaHei"/>
              </a:rPr>
              <a:t>PromptForge · 提示词锻造台  ｜  deforoout队  ｜  Coding 赛道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8000" y="1242000"/>
            <a:ext cx="2880000" cy="1404000"/>
          </a:xfrm>
          <a:prstGeom prst="roundRect">
            <a:avLst>
              <a:gd name="adj" fmla="val 8000"/>
            </a:avLst>
          </a:prstGeom>
          <a:solidFill>
            <a:srgbClr val="EAF2FA"/>
          </a:solidFill>
          <a:ln w="1397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6000" y="1303200"/>
            <a:ext cx="2664000" cy="162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864"/>
                </a:solidFill>
                <a:latin typeface="Microsoft YaHei"/>
                <a:ea typeface="Microsoft YaHei"/>
              </a:rPr>
              <a:t>规划机  Planner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6000" y="1468800"/>
            <a:ext cx="2664000" cy="162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30" b="1">
                <a:solidFill>
                  <a:srgbClr val="595959"/>
                </a:solidFill>
                <a:latin typeface="Microsoft YaHei"/>
                <a:ea typeface="Microsoft YaHei"/>
              </a:rPr>
              <a:t>SRD → Intent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6000" y="1663200"/>
            <a:ext cx="2664000" cy="936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F3864"/>
                </a:solidFill>
                <a:latin typeface="Microsoft YaHei"/>
                <a:ea typeface="Microsoft YaHei"/>
              </a:rPr>
              <a:t>• </a:t>
            </a:r>
            <a:r>
              <a:rPr sz="800" b="0">
                <a:solidFill>
                  <a:srgbClr val="262626"/>
                </a:solidFill>
                <a:latin typeface="Microsoft YaHei"/>
                <a:ea typeface="Microsoft YaHei"/>
              </a:rPr>
              <a:t>拆解任务、选择候选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F3864"/>
                </a:solidFill>
                <a:latin typeface="Microsoft YaHei"/>
                <a:ea typeface="Microsoft YaHei"/>
              </a:rPr>
              <a:t>• </a:t>
            </a:r>
            <a:r>
              <a:rPr sz="800" b="0">
                <a:solidFill>
                  <a:srgbClr val="262626"/>
                </a:solidFill>
                <a:latin typeface="Microsoft YaHei"/>
                <a:ea typeface="Microsoft YaHei"/>
              </a:rPr>
              <a:t>分配预算、权限与轮数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F3864"/>
                </a:solidFill>
                <a:latin typeface="Microsoft YaHei"/>
                <a:ea typeface="Microsoft YaHei"/>
              </a:rPr>
              <a:t>• </a:t>
            </a:r>
            <a:r>
              <a:rPr sz="800" b="0">
                <a:solidFill>
                  <a:srgbClr val="262626"/>
                </a:solidFill>
                <a:latin typeface="Microsoft YaHei"/>
                <a:ea typeface="Microsoft YaHei"/>
              </a:rPr>
              <a:t>决定修复 / 融合 / 停止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26000" y="1242000"/>
            <a:ext cx="2880000" cy="1404000"/>
          </a:xfrm>
          <a:prstGeom prst="roundRect">
            <a:avLst>
              <a:gd name="adj" fmla="val 8000"/>
            </a:avLst>
          </a:prstGeom>
          <a:solidFill>
            <a:srgbClr val="EAF2FA"/>
          </a:solidFill>
          <a:ln w="1397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34000" y="1303200"/>
            <a:ext cx="2664000" cy="162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070C0"/>
                </a:solidFill>
                <a:latin typeface="Microsoft YaHei"/>
                <a:ea typeface="Microsoft YaHei"/>
              </a:rPr>
              <a:t>执行机  Executor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34000" y="1468800"/>
            <a:ext cx="2664000" cy="162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30" b="1">
                <a:solidFill>
                  <a:srgbClr val="595959"/>
                </a:solidFill>
                <a:latin typeface="Microsoft YaHei"/>
                <a:ea typeface="Microsoft YaHei"/>
              </a:rPr>
              <a:t>Action → Observation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4000" y="1663200"/>
            <a:ext cx="2664000" cy="936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070C0"/>
                </a:solidFill>
                <a:latin typeface="Microsoft YaHei"/>
                <a:ea typeface="Microsoft YaHei"/>
              </a:rPr>
              <a:t>• </a:t>
            </a:r>
            <a:r>
              <a:rPr sz="800" b="0">
                <a:solidFill>
                  <a:srgbClr val="262626"/>
                </a:solidFill>
                <a:latin typeface="Microsoft YaHei"/>
                <a:ea typeface="Microsoft YaHei"/>
              </a:rPr>
              <a:t>编码 Agent、沙箱、CI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070C0"/>
                </a:solidFill>
                <a:latin typeface="Microsoft YaHei"/>
                <a:ea typeface="Microsoft YaHei"/>
              </a:rPr>
              <a:t>• </a:t>
            </a:r>
            <a:r>
              <a:rPr sz="800" b="0">
                <a:solidFill>
                  <a:srgbClr val="262626"/>
                </a:solidFill>
                <a:latin typeface="Microsoft YaHei"/>
                <a:ea typeface="Microsoft YaHei"/>
              </a:rPr>
              <a:t>浏览器 / 设备适配器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070C0"/>
                </a:solidFill>
                <a:latin typeface="Microsoft YaHei"/>
                <a:ea typeface="Microsoft YaHei"/>
              </a:rPr>
              <a:t>• </a:t>
            </a:r>
            <a:r>
              <a:rPr sz="800" b="0">
                <a:solidFill>
                  <a:srgbClr val="262626"/>
                </a:solidFill>
                <a:latin typeface="Microsoft YaHei"/>
                <a:ea typeface="Microsoft YaHei"/>
              </a:rPr>
              <a:t>回传 Evidence Packet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74000" y="1242000"/>
            <a:ext cx="2880000" cy="1404000"/>
          </a:xfrm>
          <a:prstGeom prst="roundRect">
            <a:avLst>
              <a:gd name="adj" fmla="val 8000"/>
            </a:avLst>
          </a:prstGeom>
          <a:solidFill>
            <a:srgbClr val="F2F9EE"/>
          </a:solidFill>
          <a:ln w="1397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82000" y="1303200"/>
            <a:ext cx="2664000" cy="162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E7D32"/>
                </a:solidFill>
                <a:latin typeface="Microsoft YaHei"/>
                <a:ea typeface="Microsoft YaHei"/>
              </a:rPr>
              <a:t>评审机  Judge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82000" y="1468800"/>
            <a:ext cx="2664000" cy="162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30" b="1">
                <a:solidFill>
                  <a:srgbClr val="595959"/>
                </a:solidFill>
                <a:latin typeface="Microsoft YaHei"/>
                <a:ea typeface="Microsoft YaHei"/>
              </a:rPr>
              <a:t>Evidence → Verdict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82000" y="1663200"/>
            <a:ext cx="2664000" cy="936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2E7D32"/>
                </a:solidFill>
                <a:latin typeface="Microsoft YaHei"/>
                <a:ea typeface="Microsoft YaHei"/>
              </a:rPr>
              <a:t>• </a:t>
            </a:r>
            <a:r>
              <a:rPr sz="800" b="0">
                <a:solidFill>
                  <a:srgbClr val="262626"/>
                </a:solidFill>
                <a:latin typeface="Microsoft YaHei"/>
                <a:ea typeface="Microsoft YaHei"/>
              </a:rPr>
              <a:t>规则引擎 + 异构评委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2E7D32"/>
                </a:solidFill>
                <a:latin typeface="Microsoft YaHei"/>
                <a:ea typeface="Microsoft YaHei"/>
              </a:rPr>
              <a:t>• </a:t>
            </a:r>
            <a:r>
              <a:rPr sz="800" b="0">
                <a:solidFill>
                  <a:srgbClr val="262626"/>
                </a:solidFill>
                <a:latin typeface="Microsoft YaHei"/>
                <a:ea typeface="Microsoft YaHei"/>
              </a:rPr>
              <a:t>盲评 / 换序 / 一致性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2E7D32"/>
                </a:solidFill>
                <a:latin typeface="Microsoft YaHei"/>
                <a:ea typeface="Microsoft YaHei"/>
              </a:rPr>
              <a:t>• </a:t>
            </a:r>
            <a:r>
              <a:rPr sz="800" b="0">
                <a:solidFill>
                  <a:srgbClr val="262626"/>
                </a:solidFill>
                <a:latin typeface="Microsoft YaHei"/>
                <a:ea typeface="Microsoft YaHei"/>
              </a:rPr>
              <a:t>输出置信度与下一步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3311999" y="1872000"/>
            <a:ext cx="1242000" cy="198000"/>
          </a:xfrm>
          <a:prstGeom prst="rightArrow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37999" y="1756800"/>
            <a:ext cx="1007999" cy="108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95959"/>
                </a:solidFill>
                <a:latin typeface="Microsoft YaHei"/>
                <a:ea typeface="Microsoft YaHei"/>
              </a:rPr>
              <a:t>Intent / Action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7560000" y="1872000"/>
            <a:ext cx="1242000" cy="198000"/>
          </a:xfrm>
          <a:prstGeom prst="rightArrow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6000" y="1756800"/>
            <a:ext cx="1007999" cy="108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95959"/>
                </a:solidFill>
                <a:latin typeface="Microsoft YaHei"/>
                <a:ea typeface="Microsoft YaHei"/>
              </a:rPr>
              <a:t>Observation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78000" y="2880000"/>
            <a:ext cx="11430000" cy="594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 w="1016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8000" y="2926800"/>
            <a:ext cx="11232000" cy="50399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IAOV 联动总线</a:t>
            </a:r>
            <a:r>
              <a:rPr sz="1000" b="0">
                <a:solidFill>
                  <a:srgbClr val="D9E2F3"/>
                </a:solidFill>
                <a:latin typeface="Microsoft YaHei"/>
                <a:ea typeface="Microsoft YaHei"/>
              </a:rPr>
              <a:t>    Intent · Action · Observation · Verdict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D9E2F3"/>
                </a:solidFill>
                <a:latin typeface="Microsoft YaHei"/>
                <a:ea typeface="Microsoft YaHei"/>
              </a:rPr>
              <a:t>每条消息带 contract_hash · trace_id · permission_scope · budget · endpoint_id；禁止只传自然语言聊天记录。</a:t>
            </a:r>
          </a:p>
        </p:txBody>
      </p:sp>
      <p:sp>
        <p:nvSpPr>
          <p:cNvPr id="27" name="Left Arrow 26"/>
          <p:cNvSpPr/>
          <p:nvPr/>
        </p:nvSpPr>
        <p:spPr>
          <a:xfrm>
            <a:off x="5112000" y="3546000"/>
            <a:ext cx="1944000" cy="162000"/>
          </a:xfrm>
          <a:prstGeom prst="leftArrow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12000" y="3715200"/>
            <a:ext cx="1980000" cy="12599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C55A11"/>
                </a:solidFill>
                <a:latin typeface="Microsoft YaHei"/>
                <a:ea typeface="Microsoft YaHei"/>
              </a:rPr>
              <a:t>Verdict 回到规划机 / 执行机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78000" y="3960000"/>
            <a:ext cx="5544000" cy="1296000"/>
          </a:xfrm>
          <a:prstGeom prst="roundRect">
            <a:avLst>
              <a:gd name="adj" fmla="val 6000"/>
            </a:avLst>
          </a:prstGeom>
          <a:solidFill>
            <a:srgbClr val="FFF8F3"/>
          </a:solidFill>
          <a:ln w="1143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8000" y="4006800"/>
            <a:ext cx="5364000" cy="162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C55A11"/>
                </a:solidFill>
                <a:latin typeface="Microsoft YaHei"/>
                <a:ea typeface="Microsoft YaHei"/>
              </a:rPr>
              <a:t>为什么难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8000" y="4176000"/>
            <a:ext cx="5346000" cy="972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C55A11"/>
                </a:solidFill>
                <a:latin typeface="Microsoft YaHei"/>
                <a:ea typeface="Microsoft YaHei"/>
              </a:rPr>
              <a:t>• </a:t>
            </a:r>
            <a:r>
              <a:rPr sz="850" b="1">
                <a:solidFill>
                  <a:srgbClr val="262626"/>
                </a:solidFill>
                <a:latin typeface="Microsoft YaHei"/>
                <a:ea typeface="Microsoft YaHei"/>
              </a:rPr>
              <a:t>异构接口</a:t>
            </a:r>
            <a:r>
              <a:rPr sz="800" b="0">
                <a:solidFill>
                  <a:srgbClr val="595959"/>
                </a:solidFill>
                <a:latin typeface="Microsoft YaHei"/>
                <a:ea typeface="Microsoft YaHei"/>
              </a:rPr>
              <a:t>：每个执行体能力/参数不同 → Capability Manifest + Action schema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C55A11"/>
                </a:solidFill>
                <a:latin typeface="Microsoft YaHei"/>
                <a:ea typeface="Microsoft YaHei"/>
              </a:rPr>
              <a:t>• </a:t>
            </a:r>
            <a:r>
              <a:rPr sz="850" b="1">
                <a:solidFill>
                  <a:srgbClr val="262626"/>
                </a:solidFill>
                <a:latin typeface="Microsoft YaHei"/>
                <a:ea typeface="Microsoft YaHei"/>
              </a:rPr>
              <a:t>权限与安全</a:t>
            </a:r>
            <a:r>
              <a:rPr sz="800" b="0">
                <a:solidFill>
                  <a:srgbClr val="595959"/>
                </a:solidFill>
                <a:latin typeface="Microsoft YaHei"/>
                <a:ea typeface="Microsoft YaHei"/>
              </a:rPr>
              <a:t>：越权/危险动作 → 最小权限 + 沙箱 + 审批门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C55A11"/>
                </a:solidFill>
                <a:latin typeface="Microsoft YaHei"/>
                <a:ea typeface="Microsoft YaHei"/>
              </a:rPr>
              <a:t>• </a:t>
            </a:r>
            <a:r>
              <a:rPr sz="850" b="1">
                <a:solidFill>
                  <a:srgbClr val="262626"/>
                </a:solidFill>
                <a:latin typeface="Microsoft YaHei"/>
                <a:ea typeface="Microsoft YaHei"/>
              </a:rPr>
              <a:t>状态与成本</a:t>
            </a:r>
            <a:r>
              <a:rPr sz="800" b="0">
                <a:solidFill>
                  <a:srgbClr val="595959"/>
                </a:solidFill>
                <a:latin typeface="Microsoft YaHei"/>
                <a:ea typeface="Microsoft YaHei"/>
              </a:rPr>
              <a:t>：上下文漂移/来回成本 → 单一事实源 + Token Ledger + 早停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083999" y="3960000"/>
            <a:ext cx="5724000" cy="1296000"/>
          </a:xfrm>
          <a:prstGeom prst="roundRect">
            <a:avLst>
              <a:gd name="adj" fmla="val 6000"/>
            </a:avLst>
          </a:prstGeom>
          <a:solidFill>
            <a:srgbClr val="F2F9EE"/>
          </a:solidFill>
          <a:ln w="1143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73999" y="4006800"/>
            <a:ext cx="5526000" cy="162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E7D32"/>
                </a:solidFill>
                <a:latin typeface="Microsoft YaHei"/>
                <a:ea typeface="Microsoft YaHei"/>
              </a:rPr>
              <a:t>已经跑通的第一段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73999" y="4183199"/>
            <a:ext cx="5508000" cy="936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2E7D32"/>
                </a:solidFill>
                <a:latin typeface="Microsoft YaHei"/>
                <a:ea typeface="Microsoft YaHei"/>
              </a:rPr>
              <a:t>v0.1 实测：</a:t>
            </a:r>
            <a:r>
              <a:rPr sz="860" b="0">
                <a:solidFill>
                  <a:srgbClr val="262626"/>
                </a:solidFill>
                <a:latin typeface="Microsoft YaHei"/>
                <a:ea typeface="Microsoft YaHei"/>
              </a:rPr>
              <a:t>生成 → 沙箱 → pytest → Evidence Packet → 决策卡；A 3/6、B 6/6，费用/耗时均来自真实日志。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2E7D32"/>
                </a:solidFill>
                <a:latin typeface="Microsoft YaHei"/>
                <a:ea typeface="Microsoft YaHei"/>
              </a:rPr>
              <a:t>协议可复用：</a:t>
            </a:r>
            <a:r>
              <a:rPr sz="860" b="0">
                <a:solidFill>
                  <a:srgbClr val="262626"/>
                </a:solidFill>
                <a:latin typeface="Microsoft YaHei"/>
                <a:ea typeface="Microsoft YaHei"/>
              </a:rPr>
              <a:t>同一套 IAOV 与状态对象可接到 CI / 浏览器 / 设备执行体；不另起一套系统。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E7D32"/>
                </a:solidFill>
                <a:latin typeface="Microsoft YaHei"/>
                <a:ea typeface="Microsoft YaHei"/>
              </a:rPr>
              <a:t>边界：</a:t>
            </a:r>
            <a:r>
              <a:rPr sz="860" b="0">
                <a:solidFill>
                  <a:srgbClr val="262626"/>
                </a:solidFill>
                <a:latin typeface="Microsoft YaHei"/>
                <a:ea typeface="Microsoft YaHei"/>
              </a:rPr>
              <a:t>不做无协议、无预算、无权限的开放式多机聊天；高风险动作必须人工确认。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6000" y="5454000"/>
            <a:ext cx="11340000" cy="32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C00000"/>
                </a:solidFill>
                <a:latin typeface="Microsoft YaHei"/>
                <a:ea typeface="Microsoft YaHei"/>
              </a:rPr>
              <a:t>联动的价值不是多几个 Agent，而是每一次执行都可回读、可审计、可复用。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6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End page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A002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sz="18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639</Words>
  <Application>Microsoft Office PowerPoint</Application>
  <PresentationFormat>宽屏</PresentationFormat>
  <Paragraphs>101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7</vt:i4>
      </vt:variant>
    </vt:vector>
  </HeadingPairs>
  <TitlesOfParts>
    <vt:vector size="17" baseType="lpstr">
      <vt:lpstr>等线</vt:lpstr>
      <vt:lpstr>微软雅黑</vt:lpstr>
      <vt:lpstr>微软雅黑</vt:lpstr>
      <vt:lpstr>Arial</vt:lpstr>
      <vt:lpstr>Calibri</vt:lpstr>
      <vt:lpstr>Calibri Light</vt:lpstr>
      <vt:lpstr>Georgia</vt:lpstr>
      <vt:lpstr>Office 主题​​</vt:lpstr>
      <vt:lpstr>6_章节页</vt:lpstr>
      <vt:lpstr>End page</vt:lpstr>
      <vt:lpstr>openJiuwen 创意大赛提交模板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openJiuwen xxxx</dc:title>
  <dc:creator>zhangmingyang (A)</dc:creator>
  <cp:lastModifiedBy>zhongzhiyin</cp:lastModifiedBy>
  <cp:revision>3</cp:revision>
  <dcterms:created xsi:type="dcterms:W3CDTF">2026-04-09T09:34:01Z</dcterms:created>
  <dcterms:modified xsi:type="dcterms:W3CDTF">2026-09-09T08:08:05Z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2052-0.0.0.0</vt:lpwstr>
  </property>
</Properties>
</file>